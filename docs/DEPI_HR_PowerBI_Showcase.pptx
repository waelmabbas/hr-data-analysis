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800" b="0" i="0" u="none" strike="noStrike">
                <a:solidFill>
                  <a:srgbClr val="1E2761"/>
                </a:solidFill>
                <a:latin typeface="Arial"/>
              </a:defRPr>
            </a:pPr>
            <a:r>
              <a:rPr sz="800" b="0" i="0" u="none" strike="noStrike">
                <a:solidFill>
                  <a:srgbClr val="1E2761"/>
                </a:solidFill>
                <a:latin typeface="Arial"/>
              </a:rPr>
              <a:t>Headcount by Department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Headcount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E938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7C3AED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HR</c:v>
                  </c:pt>
                  <c:pt idx="1">
                    <c:v>Sales</c:v>
                  </c:pt>
                  <c:pt idx="2">
                    <c:v>Technology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220</c:v>
                </c:pt>
                <c:pt idx="1">
                  <c:v>620</c:v>
                </c:pt>
                <c:pt idx="2">
                  <c:v>630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800" b="0" i="0" u="none" strike="noStrike">
                <a:solidFill>
                  <a:srgbClr val="1E2761"/>
                </a:solidFill>
                <a:latin typeface="Arial"/>
              </a:defRPr>
            </a:pPr>
            <a:r>
              <a:rPr sz="800" b="0" i="0" u="none" strike="noStrike">
                <a:solidFill>
                  <a:srgbClr val="1E2761"/>
                </a:solidFill>
                <a:latin typeface="Arial"/>
              </a:rPr>
              <a:t>Workforce Split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Dept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E2761"/>
              </a:solidFill>
              <a:effectLst/>
            </c:spPr>
          </c:dPt>
          <c:dPt>
            <c:idx val="1"/>
            <c:bubble3D val="0"/>
            <c:spPr>
              <a:solidFill>
                <a:srgbClr val="0E9384"/>
              </a:solidFill>
              <a:effectLst/>
            </c:spPr>
          </c:dPt>
          <c:dPt>
            <c:idx val="2"/>
            <c:bubble3D val="0"/>
            <c:spPr>
              <a:solidFill>
                <a:srgbClr val="7C3AED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HR</c:v>
                </c:pt>
                <c:pt idx="1">
                  <c:v>Sales</c:v>
                </c:pt>
                <c:pt idx="2">
                  <c:v>Technology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220</c:v>
                </c:pt>
                <c:pt idx="1">
                  <c:v>620</c:v>
                </c:pt>
                <c:pt idx="2">
                  <c:v>630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65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2" Type="http://schemas.openxmlformats.org/officeDocument/2006/relationships/chart" Target="/ppt/charts/chart1.xml"/><Relationship Id="rId33" Type="http://schemas.openxmlformats.org/officeDocument/2006/relationships/chart" Target="/ppt/charts/chart2.xml"/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6.png"/><Relationship Id="rId9" Type="http://schemas.openxmlformats.org/officeDocument/2006/relationships/image" Target="../media/image-1-9.png"/><Relationship Id="rId10" Type="http://schemas.openxmlformats.org/officeDocument/2006/relationships/image" Target="../media/image-1-5.png"/><Relationship Id="rId11" Type="http://schemas.openxmlformats.org/officeDocument/2006/relationships/image" Target="../media/image-1-11.png"/><Relationship Id="rId12" Type="http://schemas.openxmlformats.org/officeDocument/2006/relationships/image" Target="../media/image-1-5.png"/><Relationship Id="rId13" Type="http://schemas.openxmlformats.org/officeDocument/2006/relationships/image" Target="../media/image-1-13.png"/><Relationship Id="rId14" Type="http://schemas.openxmlformats.org/officeDocument/2006/relationships/image" Target="../media/image-1-14.png"/><Relationship Id="rId15" Type="http://schemas.openxmlformats.org/officeDocument/2006/relationships/image" Target="../media/image-1-15.png"/><Relationship Id="rId16" Type="http://schemas.openxmlformats.org/officeDocument/2006/relationships/image" Target="../media/image-1-16.png"/><Relationship Id="rId17" Type="http://schemas.openxmlformats.org/officeDocument/2006/relationships/image" Target="../media/image-1-17.png"/><Relationship Id="rId18" Type="http://schemas.openxmlformats.org/officeDocument/2006/relationships/image" Target="../media/image-1-18.png"/><Relationship Id="rId19" Type="http://schemas.openxmlformats.org/officeDocument/2006/relationships/image" Target="../media/image-1-19.png"/><Relationship Id="rId20" Type="http://schemas.openxmlformats.org/officeDocument/2006/relationships/image" Target="../media/image-1-15.png"/><Relationship Id="rId21" Type="http://schemas.openxmlformats.org/officeDocument/2006/relationships/image" Target="../media/image-1-21.png"/><Relationship Id="rId22" Type="http://schemas.openxmlformats.org/officeDocument/2006/relationships/image" Target="../media/image-1-22.png"/><Relationship Id="rId23" Type="http://schemas.openxmlformats.org/officeDocument/2006/relationships/image" Target="../media/image-1-23.png"/><Relationship Id="rId24" Type="http://schemas.openxmlformats.org/officeDocument/2006/relationships/image" Target="../media/image-1-24.png"/><Relationship Id="rId25" Type="http://schemas.openxmlformats.org/officeDocument/2006/relationships/image" Target="../media/image-1-25.png"/><Relationship Id="rId26" Type="http://schemas.openxmlformats.org/officeDocument/2006/relationships/image" Target="../media/image-1-1.png"/><Relationship Id="rId27" Type="http://schemas.openxmlformats.org/officeDocument/2006/relationships/image" Target="../media/image-1-23.png"/><Relationship Id="rId28" Type="http://schemas.openxmlformats.org/officeDocument/2006/relationships/image" Target="../media/image-1-28.png"/><Relationship Id="rId29" Type="http://schemas.openxmlformats.org/officeDocument/2006/relationships/image" Target="../media/image-1-13.png"/><Relationship Id="rId30" Type="http://schemas.openxmlformats.org/officeDocument/2006/relationships/image" Target="../media/image-1-30.png"/><Relationship Id="rId31" Type="http://schemas.openxmlformats.org/officeDocument/2006/relationships/image" Target="../media/image-1-31.png"/><Relationship Id="rId34" Type="http://schemas.openxmlformats.org/officeDocument/2006/relationships/image" Target="../media/image-1-25.png"/><Relationship Id="rId35" Type="http://schemas.openxmlformats.org/officeDocument/2006/relationships/image" Target="../media/image-1-21.png"/><Relationship Id="rId36" Type="http://schemas.openxmlformats.org/officeDocument/2006/relationships/image" Target="../media/image-1-28.png"/><Relationship Id="rId37" Type="http://schemas.openxmlformats.org/officeDocument/2006/relationships/image" Target="../media/image-1-23.png"/><Relationship Id="rId38" Type="http://schemas.openxmlformats.org/officeDocument/2006/relationships/image" Target="../media/image-1-36.png"/><Relationship Id="rId39" Type="http://schemas.openxmlformats.org/officeDocument/2006/relationships/image" Target="../media/image-1-37.png"/><Relationship Id="rId40" Type="http://schemas.openxmlformats.org/officeDocument/2006/relationships/slideLayout" Target="../slideLayouts/slideLayout1.xml"/><Relationship Id="rId41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" y="109728"/>
            <a:ext cx="11972239" cy="6638544"/>
          </a:xfrm>
          <a:prstGeom prst="roundRect">
            <a:avLst>
              <a:gd name="adj" fmla="val 2204"/>
            </a:avLst>
          </a:prstGeom>
          <a:solidFill>
            <a:srgbClr val="FFFFFF"/>
          </a:solidFill>
          <a:ln w="15875">
            <a:solidFill>
              <a:srgbClr val="E2E5E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56032"/>
            <a:ext cx="201168" cy="201168"/>
          </a:xfrm>
          <a:prstGeom prst="star4">
            <a:avLst/>
          </a:prstGeom>
          <a:solidFill>
            <a:srgbClr val="0E9384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502920"/>
            <a:ext cx="118872" cy="118872"/>
          </a:xfrm>
          <a:prstGeom prst="star4">
            <a:avLst/>
          </a:prstGeom>
          <a:solidFill>
            <a:srgbClr val="7C3AED"/>
          </a:solidFill>
          <a:ln/>
        </p:spPr>
      </p:sp>
      <p:sp>
        <p:nvSpPr>
          <p:cNvPr id="5" name="Shape 3"/>
          <p:cNvSpPr/>
          <p:nvPr/>
        </p:nvSpPr>
        <p:spPr>
          <a:xfrm>
            <a:off x="11487607" y="256032"/>
            <a:ext cx="201168" cy="201168"/>
          </a:xfrm>
          <a:prstGeom prst="star4">
            <a:avLst/>
          </a:prstGeom>
          <a:solidFill>
            <a:srgbClr val="D4537E"/>
          </a:solidFill>
          <a:ln/>
        </p:spPr>
      </p:sp>
      <p:sp>
        <p:nvSpPr>
          <p:cNvPr id="6" name="Shape 4"/>
          <p:cNvSpPr/>
          <p:nvPr/>
        </p:nvSpPr>
        <p:spPr>
          <a:xfrm>
            <a:off x="11204143" y="502920"/>
            <a:ext cx="118872" cy="118872"/>
          </a:xfrm>
          <a:prstGeom prst="star4">
            <a:avLst/>
          </a:prstGeom>
          <a:solidFill>
            <a:srgbClr val="7C3AED"/>
          </a:solidFill>
          <a:ln/>
        </p:spPr>
      </p:sp>
      <p:sp>
        <p:nvSpPr>
          <p:cNvPr id="7" name="Text 5"/>
          <p:cNvSpPr/>
          <p:nvPr/>
        </p:nvSpPr>
        <p:spPr>
          <a:xfrm>
            <a:off x="0" y="237744"/>
            <a:ext cx="12191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ANALYTICS PROJECT </a:t>
            </a:r>
            <a:pPr algn="ctr" indent="0" marL="0">
              <a:buNone/>
            </a:pPr>
            <a:r>
              <a:rPr lang="en-US" sz="3300" b="1" dirty="0">
                <a:solidFill>
                  <a:srgbClr val="D45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SHOWCASE</a:t>
            </a:r>
            <a:endParaRPr lang="en-US" sz="3300" dirty="0"/>
          </a:p>
        </p:txBody>
      </p:sp>
      <p:sp>
        <p:nvSpPr>
          <p:cNvPr id="8" name="Text 6"/>
          <p:cNvSpPr/>
          <p:nvPr/>
        </p:nvSpPr>
        <p:spPr>
          <a:xfrm>
            <a:off x="0" y="786384"/>
            <a:ext cx="12191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Egypt Pioneers Initiative (DEPI)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804008" y="1170432"/>
            <a:ext cx="1234440" cy="0"/>
          </a:xfrm>
          <a:prstGeom prst="line">
            <a:avLst/>
          </a:prstGeom>
          <a:noFill/>
          <a:ln w="15875">
            <a:solidFill>
              <a:srgbClr val="0E938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093312" y="1129284"/>
            <a:ext cx="82296" cy="82296"/>
          </a:xfrm>
          <a:prstGeom prst="ellipse">
            <a:avLst/>
          </a:prstGeom>
          <a:solidFill>
            <a:srgbClr val="0E9384"/>
          </a:solidFill>
          <a:ln/>
        </p:spPr>
      </p:sp>
      <p:sp>
        <p:nvSpPr>
          <p:cNvPr id="11" name="Shape 9"/>
          <p:cNvSpPr/>
          <p:nvPr/>
        </p:nvSpPr>
        <p:spPr>
          <a:xfrm>
            <a:off x="8016088" y="1129284"/>
            <a:ext cx="82296" cy="82296"/>
          </a:xfrm>
          <a:prstGeom prst="ellipse">
            <a:avLst/>
          </a:prstGeom>
          <a:solidFill>
            <a:srgbClr val="0E9384"/>
          </a:solidFill>
          <a:ln/>
        </p:spPr>
      </p:sp>
      <p:sp>
        <p:nvSpPr>
          <p:cNvPr id="12" name="Shape 10"/>
          <p:cNvSpPr/>
          <p:nvPr/>
        </p:nvSpPr>
        <p:spPr>
          <a:xfrm>
            <a:off x="8153248" y="1170432"/>
            <a:ext cx="1234440" cy="0"/>
          </a:xfrm>
          <a:prstGeom prst="line">
            <a:avLst/>
          </a:prstGeom>
          <a:noFill/>
          <a:ln w="15875">
            <a:solidFill>
              <a:srgbClr val="0E938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21328" y="106070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93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POWER BI ENGINEER TRACK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84048" y="1481328"/>
            <a:ext cx="3246120" cy="1014984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9525">
            <a:solidFill>
              <a:srgbClr val="E2E5EE"/>
            </a:solidFill>
            <a:prstDash val="solid"/>
          </a:ln>
          <a:effectLst>
            <a:outerShdw sx="100000" sy="100000" kx="0" ky="0" algn="bl" rotWithShape="0" blurRad="76200" dist="25400" dir="5400000">
              <a:srgbClr val="9AA5C7">
                <a:alpha val="2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02920" y="1600200"/>
            <a:ext cx="310896" cy="3108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16002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96112" y="1572768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Identity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21208" y="1911096"/>
            <a:ext cx="512064" cy="512064"/>
          </a:xfrm>
          <a:prstGeom prst="ellipse">
            <a:avLst/>
          </a:prstGeom>
          <a:solidFill>
            <a:srgbClr val="1E2761">
              <a:alpha val="15000"/>
            </a:srgbClr>
          </a:solidFill>
          <a:ln/>
        </p:spPr>
      </p:sp>
      <p:pic>
        <p:nvPicPr>
          <p:cNvPr id="19" name="Image 0" descr="ic_filetex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103" y="2033991"/>
            <a:ext cx="266273" cy="266273"/>
          </a:xfrm>
          <a:prstGeom prst="rect">
            <a:avLst/>
          </a:prstGeom>
        </p:spPr>
      </p:pic>
      <p:sp>
        <p:nvSpPr>
          <p:cNvPr id="20" name="Shape 17"/>
          <p:cNvSpPr/>
          <p:nvPr/>
        </p:nvSpPr>
        <p:spPr>
          <a:xfrm>
            <a:off x="521208" y="1911096"/>
            <a:ext cx="512064" cy="512064"/>
          </a:xfrm>
          <a:prstGeom prst="ellipse">
            <a:avLst/>
          </a:prstGeom>
          <a:ln w="12700">
            <a:solidFill>
              <a:srgbClr val="1E2761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179576" y="1865376"/>
            <a:ext cx="173736" cy="173736"/>
          </a:xfrm>
          <a:prstGeom prst="ellipse">
            <a:avLst/>
          </a:prstGeom>
          <a:solidFill>
            <a:srgbClr val="1E2761">
              <a:alpha val="18000"/>
            </a:srgbClr>
          </a:solidFill>
          <a:ln/>
        </p:spPr>
      </p:sp>
      <p:pic>
        <p:nvPicPr>
          <p:cNvPr id="22" name="Image 1" descr="ic_filetex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4323" y="1900123"/>
            <a:ext cx="104242" cy="104242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1435608" y="1844802"/>
            <a:ext cx="205740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Data Analysis Dashboard</a:t>
            </a:r>
            <a:endParaRPr lang="en-US" sz="960" dirty="0"/>
          </a:p>
        </p:txBody>
      </p:sp>
      <p:sp>
        <p:nvSpPr>
          <p:cNvPr id="24" name="Shape 20"/>
          <p:cNvSpPr/>
          <p:nvPr/>
        </p:nvSpPr>
        <p:spPr>
          <a:xfrm>
            <a:off x="1179576" y="2080260"/>
            <a:ext cx="173736" cy="173736"/>
          </a:xfrm>
          <a:prstGeom prst="ellipse">
            <a:avLst/>
          </a:prstGeom>
          <a:solidFill>
            <a:srgbClr val="1E2761">
              <a:alpha val="18000"/>
            </a:srgbClr>
          </a:solidFill>
          <a:ln/>
        </p:spPr>
      </p:sp>
      <p:pic>
        <p:nvPicPr>
          <p:cNvPr id="25" name="Image 2" descr="ic_briefcas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4323" y="2115007"/>
            <a:ext cx="104242" cy="104242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1435608" y="2059686"/>
            <a:ext cx="205740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Power BI Engineer</a:t>
            </a:r>
            <a:endParaRPr lang="en-US" sz="960" dirty="0"/>
          </a:p>
        </p:txBody>
      </p:sp>
      <p:sp>
        <p:nvSpPr>
          <p:cNvPr id="27" name="Shape 22"/>
          <p:cNvSpPr/>
          <p:nvPr/>
        </p:nvSpPr>
        <p:spPr>
          <a:xfrm>
            <a:off x="1179576" y="2295144"/>
            <a:ext cx="173736" cy="173736"/>
          </a:xfrm>
          <a:prstGeom prst="ellipse">
            <a:avLst/>
          </a:prstGeom>
          <a:solidFill>
            <a:srgbClr val="1E2761">
              <a:alpha val="18000"/>
            </a:srgbClr>
          </a:solidFill>
          <a:ln/>
        </p:spPr>
      </p:sp>
      <p:pic>
        <p:nvPicPr>
          <p:cNvPr id="28" name="Image 3" descr="ic_us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4323" y="2329891"/>
            <a:ext cx="104242" cy="104242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1435608" y="2274570"/>
            <a:ext cx="205740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PM: Wael Abbas</a:t>
            </a:r>
            <a:endParaRPr lang="en-US" sz="960" dirty="0"/>
          </a:p>
        </p:txBody>
      </p:sp>
      <p:sp>
        <p:nvSpPr>
          <p:cNvPr id="30" name="Shape 24"/>
          <p:cNvSpPr/>
          <p:nvPr/>
        </p:nvSpPr>
        <p:spPr>
          <a:xfrm>
            <a:off x="384048" y="2619756"/>
            <a:ext cx="3246120" cy="1014984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9525">
            <a:solidFill>
              <a:srgbClr val="E2E5EE"/>
            </a:solidFill>
            <a:prstDash val="solid"/>
          </a:ln>
          <a:effectLst>
            <a:outerShdw sx="100000" sy="100000" kx="0" ky="0" algn="bl" rotWithShape="0" blurRad="76200" dist="25400" dir="5400000">
              <a:srgbClr val="9AA5C7">
                <a:alpha val="22000"/>
              </a:srgbClr>
            </a:outerShdw>
          </a:effectLst>
        </p:spPr>
      </p:sp>
      <p:sp>
        <p:nvSpPr>
          <p:cNvPr id="31" name="Shape 25"/>
          <p:cNvSpPr/>
          <p:nvPr/>
        </p:nvSpPr>
        <p:spPr>
          <a:xfrm>
            <a:off x="502920" y="2738628"/>
            <a:ext cx="310896" cy="310896"/>
          </a:xfrm>
          <a:prstGeom prst="ellipse">
            <a:avLst/>
          </a:prstGeom>
          <a:solidFill>
            <a:srgbClr val="0E9384"/>
          </a:solidFill>
          <a:ln/>
        </p:spPr>
      </p:sp>
      <p:sp>
        <p:nvSpPr>
          <p:cNvPr id="32" name="Text 26"/>
          <p:cNvSpPr/>
          <p:nvPr/>
        </p:nvSpPr>
        <p:spPr>
          <a:xfrm>
            <a:off x="502920" y="27386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33" name="Text 27"/>
          <p:cNvSpPr/>
          <p:nvPr/>
        </p:nvSpPr>
        <p:spPr>
          <a:xfrm>
            <a:off x="896112" y="2711196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</a:t>
            </a:r>
            <a:endParaRPr lang="en-US" sz="1250" dirty="0"/>
          </a:p>
        </p:txBody>
      </p:sp>
      <p:sp>
        <p:nvSpPr>
          <p:cNvPr id="34" name="Shape 28"/>
          <p:cNvSpPr/>
          <p:nvPr/>
        </p:nvSpPr>
        <p:spPr>
          <a:xfrm>
            <a:off x="521208" y="3049524"/>
            <a:ext cx="512064" cy="512064"/>
          </a:xfrm>
          <a:prstGeom prst="ellipse">
            <a:avLst/>
          </a:prstGeom>
          <a:solidFill>
            <a:srgbClr val="0E9384">
              <a:alpha val="15000"/>
            </a:srgbClr>
          </a:solidFill>
          <a:ln/>
        </p:spPr>
      </p:sp>
      <p:pic>
        <p:nvPicPr>
          <p:cNvPr id="35" name="Image 4" descr="ic_user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103" y="3172419"/>
            <a:ext cx="266273" cy="266273"/>
          </a:xfrm>
          <a:prstGeom prst="rect">
            <a:avLst/>
          </a:prstGeom>
        </p:spPr>
      </p:pic>
      <p:sp>
        <p:nvSpPr>
          <p:cNvPr id="36" name="Shape 29"/>
          <p:cNvSpPr/>
          <p:nvPr/>
        </p:nvSpPr>
        <p:spPr>
          <a:xfrm>
            <a:off x="521208" y="3049524"/>
            <a:ext cx="512064" cy="512064"/>
          </a:xfrm>
          <a:prstGeom prst="ellipse">
            <a:avLst/>
          </a:prstGeom>
          <a:ln w="12700">
            <a:solidFill>
              <a:srgbClr val="0E9384"/>
            </a:solidFill>
            <a:prstDash val="solid"/>
          </a:ln>
        </p:spPr>
      </p:sp>
      <p:sp>
        <p:nvSpPr>
          <p:cNvPr id="37" name="Text 30"/>
          <p:cNvSpPr/>
          <p:nvPr/>
        </p:nvSpPr>
        <p:spPr>
          <a:xfrm>
            <a:off x="1179576" y="3022092"/>
            <a:ext cx="2313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Wael (PM), Gerges, Antonios,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Ahmed Mamdouh, Omar, Ashraf</a:t>
            </a:r>
            <a:endParaRPr lang="en-US" sz="1050" dirty="0"/>
          </a:p>
        </p:txBody>
      </p:sp>
      <p:sp>
        <p:nvSpPr>
          <p:cNvPr id="38" name="Shape 31"/>
          <p:cNvSpPr/>
          <p:nvPr/>
        </p:nvSpPr>
        <p:spPr>
          <a:xfrm>
            <a:off x="384048" y="3758184"/>
            <a:ext cx="3246120" cy="1014984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9525">
            <a:solidFill>
              <a:srgbClr val="E2E5EE"/>
            </a:solidFill>
            <a:prstDash val="solid"/>
          </a:ln>
          <a:effectLst>
            <a:outerShdw sx="100000" sy="100000" kx="0" ky="0" algn="bl" rotWithShape="0" blurRad="76200" dist="25400" dir="5400000">
              <a:srgbClr val="9AA5C7">
                <a:alpha val="22000"/>
              </a:srgbClr>
            </a:outerShdw>
          </a:effectLst>
        </p:spPr>
      </p:sp>
      <p:sp>
        <p:nvSpPr>
          <p:cNvPr id="39" name="Shape 32"/>
          <p:cNvSpPr/>
          <p:nvPr/>
        </p:nvSpPr>
        <p:spPr>
          <a:xfrm>
            <a:off x="502920" y="3877056"/>
            <a:ext cx="310896" cy="310896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40" name="Text 33"/>
          <p:cNvSpPr/>
          <p:nvPr/>
        </p:nvSpPr>
        <p:spPr>
          <a:xfrm>
            <a:off x="502920" y="38770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41" name="Text 34"/>
          <p:cNvSpPr/>
          <p:nvPr/>
        </p:nvSpPr>
        <p:spPr>
          <a:xfrm>
            <a:off x="896112" y="3849624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Concept</a:t>
            </a:r>
            <a:endParaRPr lang="en-US" sz="1250" dirty="0"/>
          </a:p>
        </p:txBody>
      </p:sp>
      <p:sp>
        <p:nvSpPr>
          <p:cNvPr id="42" name="Shape 35"/>
          <p:cNvSpPr/>
          <p:nvPr/>
        </p:nvSpPr>
        <p:spPr>
          <a:xfrm>
            <a:off x="521208" y="4187952"/>
            <a:ext cx="512064" cy="512064"/>
          </a:xfrm>
          <a:prstGeom prst="ellipse">
            <a:avLst/>
          </a:prstGeom>
          <a:solidFill>
            <a:srgbClr val="7C3AED">
              <a:alpha val="15000"/>
            </a:srgbClr>
          </a:solidFill>
          <a:ln/>
        </p:spPr>
      </p:sp>
      <p:pic>
        <p:nvPicPr>
          <p:cNvPr id="43" name="Image 5" descr="ic_bulb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4103" y="4310847"/>
            <a:ext cx="266273" cy="266273"/>
          </a:xfrm>
          <a:prstGeom prst="rect">
            <a:avLst/>
          </a:prstGeom>
        </p:spPr>
      </p:pic>
      <p:sp>
        <p:nvSpPr>
          <p:cNvPr id="44" name="Shape 36"/>
          <p:cNvSpPr/>
          <p:nvPr/>
        </p:nvSpPr>
        <p:spPr>
          <a:xfrm>
            <a:off x="521208" y="4187952"/>
            <a:ext cx="512064" cy="512064"/>
          </a:xfrm>
          <a:prstGeom prst="ellipse">
            <a:avLst/>
          </a:prstGeom>
          <a:ln w="12700">
            <a:solidFill>
              <a:srgbClr val="7C3AED"/>
            </a:solidFill>
            <a:prstDash val="solid"/>
          </a:ln>
        </p:spPr>
      </p:sp>
      <p:sp>
        <p:nvSpPr>
          <p:cNvPr id="45" name="Shape 37"/>
          <p:cNvSpPr/>
          <p:nvPr/>
        </p:nvSpPr>
        <p:spPr>
          <a:xfrm>
            <a:off x="1179576" y="4142232"/>
            <a:ext cx="173736" cy="173736"/>
          </a:xfrm>
          <a:prstGeom prst="ellipse">
            <a:avLst/>
          </a:prstGeom>
          <a:solidFill>
            <a:srgbClr val="7C3AED">
              <a:alpha val="18000"/>
            </a:srgbClr>
          </a:solidFill>
          <a:ln/>
        </p:spPr>
      </p:sp>
      <p:pic>
        <p:nvPicPr>
          <p:cNvPr id="46" name="Image 6" descr="ic_target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14323" y="4176979"/>
            <a:ext cx="104242" cy="104242"/>
          </a:xfrm>
          <a:prstGeom prst="rect">
            <a:avLst/>
          </a:prstGeom>
        </p:spPr>
      </p:pic>
      <p:sp>
        <p:nvSpPr>
          <p:cNvPr id="47" name="Text 38"/>
          <p:cNvSpPr/>
          <p:nvPr/>
        </p:nvSpPr>
        <p:spPr>
          <a:xfrm>
            <a:off x="1435608" y="4121658"/>
            <a:ext cx="205740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decision-support dashboard</a:t>
            </a:r>
            <a:endParaRPr lang="en-US" sz="960" dirty="0"/>
          </a:p>
        </p:txBody>
      </p:sp>
      <p:sp>
        <p:nvSpPr>
          <p:cNvPr id="48" name="Shape 39"/>
          <p:cNvSpPr/>
          <p:nvPr/>
        </p:nvSpPr>
        <p:spPr>
          <a:xfrm>
            <a:off x="1179576" y="4357116"/>
            <a:ext cx="173736" cy="173736"/>
          </a:xfrm>
          <a:prstGeom prst="ellipse">
            <a:avLst/>
          </a:prstGeom>
          <a:solidFill>
            <a:srgbClr val="7C3AED">
              <a:alpha val="18000"/>
            </a:srgbClr>
          </a:solidFill>
          <a:ln/>
        </p:spPr>
      </p:sp>
      <p:pic>
        <p:nvPicPr>
          <p:cNvPr id="49" name="Image 7" descr="ic_bulb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14323" y="4391863"/>
            <a:ext cx="104242" cy="104242"/>
          </a:xfrm>
          <a:prstGeom prst="rect">
            <a:avLst/>
          </a:prstGeom>
        </p:spPr>
      </p:pic>
      <p:sp>
        <p:nvSpPr>
          <p:cNvPr id="50" name="Text 40"/>
          <p:cNvSpPr/>
          <p:nvPr/>
        </p:nvSpPr>
        <p:spPr>
          <a:xfrm>
            <a:off x="1435608" y="4336542"/>
            <a:ext cx="205740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HR Attrition dataset</a:t>
            </a:r>
            <a:endParaRPr lang="en-US" sz="960" dirty="0"/>
          </a:p>
        </p:txBody>
      </p:sp>
      <p:sp>
        <p:nvSpPr>
          <p:cNvPr id="51" name="Shape 41"/>
          <p:cNvSpPr/>
          <p:nvPr/>
        </p:nvSpPr>
        <p:spPr>
          <a:xfrm>
            <a:off x="1179576" y="4572000"/>
            <a:ext cx="173736" cy="173736"/>
          </a:xfrm>
          <a:prstGeom prst="ellipse">
            <a:avLst/>
          </a:prstGeom>
          <a:solidFill>
            <a:srgbClr val="7C3AED">
              <a:alpha val="18000"/>
            </a:srgbClr>
          </a:solidFill>
          <a:ln/>
        </p:spPr>
      </p:sp>
      <p:pic>
        <p:nvPicPr>
          <p:cNvPr id="52" name="Image 8" descr="ic_gem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14323" y="4606747"/>
            <a:ext cx="104242" cy="104242"/>
          </a:xfrm>
          <a:prstGeom prst="rect">
            <a:avLst/>
          </a:prstGeom>
        </p:spPr>
      </p:pic>
      <p:sp>
        <p:nvSpPr>
          <p:cNvPr id="53" name="Text 42"/>
          <p:cNvSpPr/>
          <p:nvPr/>
        </p:nvSpPr>
        <p:spPr>
          <a:xfrm>
            <a:off x="1435608" y="4551426"/>
            <a:ext cx="205740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star-schema model</a:t>
            </a:r>
            <a:endParaRPr lang="en-US" sz="960" dirty="0"/>
          </a:p>
        </p:txBody>
      </p:sp>
      <p:sp>
        <p:nvSpPr>
          <p:cNvPr id="54" name="Shape 43"/>
          <p:cNvSpPr/>
          <p:nvPr/>
        </p:nvSpPr>
        <p:spPr>
          <a:xfrm>
            <a:off x="384048" y="4896612"/>
            <a:ext cx="3246120" cy="1014984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9525">
            <a:solidFill>
              <a:srgbClr val="E2E5EE"/>
            </a:solidFill>
            <a:prstDash val="solid"/>
          </a:ln>
          <a:effectLst>
            <a:outerShdw sx="100000" sy="100000" kx="0" ky="0" algn="bl" rotWithShape="0" blurRad="76200" dist="25400" dir="5400000">
              <a:srgbClr val="9AA5C7">
                <a:alpha val="22000"/>
              </a:srgbClr>
            </a:outerShdw>
          </a:effectLst>
        </p:spPr>
      </p:sp>
      <p:sp>
        <p:nvSpPr>
          <p:cNvPr id="55" name="Shape 44"/>
          <p:cNvSpPr/>
          <p:nvPr/>
        </p:nvSpPr>
        <p:spPr>
          <a:xfrm>
            <a:off x="502920" y="5015484"/>
            <a:ext cx="310896" cy="310896"/>
          </a:xfrm>
          <a:prstGeom prst="ellipse">
            <a:avLst/>
          </a:prstGeom>
          <a:solidFill>
            <a:srgbClr val="D4537E"/>
          </a:solidFill>
          <a:ln/>
        </p:spPr>
      </p:sp>
      <p:sp>
        <p:nvSpPr>
          <p:cNvPr id="56" name="Text 45"/>
          <p:cNvSpPr/>
          <p:nvPr/>
        </p:nvSpPr>
        <p:spPr>
          <a:xfrm>
            <a:off x="502920" y="50154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57" name="Text 46"/>
          <p:cNvSpPr/>
          <p:nvPr/>
        </p:nvSpPr>
        <p:spPr>
          <a:xfrm>
            <a:off x="896112" y="4988052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&amp; Audience</a:t>
            </a:r>
            <a:endParaRPr lang="en-US" sz="1250" dirty="0"/>
          </a:p>
        </p:txBody>
      </p:sp>
      <p:sp>
        <p:nvSpPr>
          <p:cNvPr id="58" name="Shape 47"/>
          <p:cNvSpPr/>
          <p:nvPr/>
        </p:nvSpPr>
        <p:spPr>
          <a:xfrm>
            <a:off x="521208" y="5326380"/>
            <a:ext cx="512064" cy="512064"/>
          </a:xfrm>
          <a:prstGeom prst="ellipse">
            <a:avLst/>
          </a:prstGeom>
          <a:solidFill>
            <a:srgbClr val="D4537E">
              <a:alpha val="15000"/>
            </a:srgbClr>
          </a:solidFill>
          <a:ln/>
        </p:spPr>
      </p:sp>
      <p:pic>
        <p:nvPicPr>
          <p:cNvPr id="59" name="Image 9" descr="ic_users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4103" y="5449275"/>
            <a:ext cx="266273" cy="266273"/>
          </a:xfrm>
          <a:prstGeom prst="rect">
            <a:avLst/>
          </a:prstGeom>
        </p:spPr>
      </p:pic>
      <p:sp>
        <p:nvSpPr>
          <p:cNvPr id="60" name="Shape 48"/>
          <p:cNvSpPr/>
          <p:nvPr/>
        </p:nvSpPr>
        <p:spPr>
          <a:xfrm>
            <a:off x="521208" y="5326380"/>
            <a:ext cx="512064" cy="512064"/>
          </a:xfrm>
          <a:prstGeom prst="ellipse">
            <a:avLst/>
          </a:prstGeom>
          <a:ln w="12700">
            <a:solidFill>
              <a:srgbClr val="D4537E"/>
            </a:solidFill>
            <a:prstDash val="solid"/>
          </a:ln>
        </p:spPr>
      </p:sp>
      <p:sp>
        <p:nvSpPr>
          <p:cNvPr id="61" name="Shape 49"/>
          <p:cNvSpPr/>
          <p:nvPr/>
        </p:nvSpPr>
        <p:spPr>
          <a:xfrm>
            <a:off x="1179576" y="5280660"/>
            <a:ext cx="173736" cy="173736"/>
          </a:xfrm>
          <a:prstGeom prst="ellipse">
            <a:avLst/>
          </a:prstGeom>
          <a:solidFill>
            <a:srgbClr val="D4537E">
              <a:alpha val="18000"/>
            </a:srgbClr>
          </a:solidFill>
          <a:ln/>
        </p:spPr>
      </p:sp>
      <p:pic>
        <p:nvPicPr>
          <p:cNvPr id="62" name="Image 10" descr="ic_alert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14323" y="5315407"/>
            <a:ext cx="104242" cy="104242"/>
          </a:xfrm>
          <a:prstGeom prst="rect">
            <a:avLst/>
          </a:prstGeom>
        </p:spPr>
      </p:pic>
      <p:sp>
        <p:nvSpPr>
          <p:cNvPr id="63" name="Text 50"/>
          <p:cNvSpPr/>
          <p:nvPr/>
        </p:nvSpPr>
        <p:spPr>
          <a:xfrm>
            <a:off x="1435608" y="5260086"/>
            <a:ext cx="205740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HR data visibility</a:t>
            </a:r>
            <a:endParaRPr lang="en-US" sz="960" dirty="0"/>
          </a:p>
        </p:txBody>
      </p:sp>
      <p:sp>
        <p:nvSpPr>
          <p:cNvPr id="64" name="Shape 51"/>
          <p:cNvSpPr/>
          <p:nvPr/>
        </p:nvSpPr>
        <p:spPr>
          <a:xfrm>
            <a:off x="1179576" y="5495544"/>
            <a:ext cx="173736" cy="173736"/>
          </a:xfrm>
          <a:prstGeom prst="ellipse">
            <a:avLst/>
          </a:prstGeom>
          <a:solidFill>
            <a:srgbClr val="D4537E">
              <a:alpha val="18000"/>
            </a:srgbClr>
          </a:solidFill>
          <a:ln/>
        </p:spPr>
      </p:sp>
      <p:pic>
        <p:nvPicPr>
          <p:cNvPr id="65" name="Image 11" descr="ic_users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214323" y="5530291"/>
            <a:ext cx="104242" cy="104242"/>
          </a:xfrm>
          <a:prstGeom prst="rect">
            <a:avLst/>
          </a:prstGeom>
        </p:spPr>
      </p:pic>
      <p:sp>
        <p:nvSpPr>
          <p:cNvPr id="66" name="Text 52"/>
          <p:cNvSpPr/>
          <p:nvPr/>
        </p:nvSpPr>
        <p:spPr>
          <a:xfrm>
            <a:off x="1435608" y="5474970"/>
            <a:ext cx="205740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managers &amp; executives</a:t>
            </a:r>
            <a:endParaRPr lang="en-US" sz="960" dirty="0"/>
          </a:p>
        </p:txBody>
      </p:sp>
      <p:sp>
        <p:nvSpPr>
          <p:cNvPr id="67" name="Shape 53"/>
          <p:cNvSpPr/>
          <p:nvPr/>
        </p:nvSpPr>
        <p:spPr>
          <a:xfrm>
            <a:off x="1179576" y="5710428"/>
            <a:ext cx="173736" cy="173736"/>
          </a:xfrm>
          <a:prstGeom prst="ellipse">
            <a:avLst/>
          </a:prstGeom>
          <a:solidFill>
            <a:srgbClr val="D4537E">
              <a:alpha val="18000"/>
            </a:srgbClr>
          </a:solidFill>
          <a:ln/>
        </p:spPr>
      </p:sp>
      <p:pic>
        <p:nvPicPr>
          <p:cNvPr id="68" name="Image 12" descr="ic_heart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214323" y="5745175"/>
            <a:ext cx="104242" cy="104242"/>
          </a:xfrm>
          <a:prstGeom prst="rect">
            <a:avLst/>
          </a:prstGeom>
        </p:spPr>
      </p:pic>
      <p:sp>
        <p:nvSpPr>
          <p:cNvPr id="69" name="Text 54"/>
          <p:cNvSpPr/>
          <p:nvPr/>
        </p:nvSpPr>
        <p:spPr>
          <a:xfrm>
            <a:off x="1435608" y="5689854"/>
            <a:ext cx="205740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Attrition, performance, pay</a:t>
            </a:r>
            <a:endParaRPr lang="en-US" sz="960" dirty="0"/>
          </a:p>
        </p:txBody>
      </p:sp>
      <p:sp>
        <p:nvSpPr>
          <p:cNvPr id="70" name="Shape 55"/>
          <p:cNvSpPr/>
          <p:nvPr/>
        </p:nvSpPr>
        <p:spPr>
          <a:xfrm>
            <a:off x="8561527" y="1481328"/>
            <a:ext cx="3246120" cy="1014984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9525">
            <a:solidFill>
              <a:srgbClr val="E2E5EE"/>
            </a:solidFill>
            <a:prstDash val="solid"/>
          </a:ln>
          <a:effectLst>
            <a:outerShdw sx="100000" sy="100000" kx="0" ky="0" algn="bl" rotWithShape="0" blurRad="76200" dist="25400" dir="5400000">
              <a:srgbClr val="9AA5C7">
                <a:alpha val="22000"/>
              </a:srgbClr>
            </a:outerShdw>
          </a:effectLst>
        </p:spPr>
      </p:sp>
      <p:sp>
        <p:nvSpPr>
          <p:cNvPr id="71" name="Shape 56"/>
          <p:cNvSpPr/>
          <p:nvPr/>
        </p:nvSpPr>
        <p:spPr>
          <a:xfrm>
            <a:off x="8680399" y="1600200"/>
            <a:ext cx="310896" cy="310896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72" name="Text 57"/>
          <p:cNvSpPr/>
          <p:nvPr/>
        </p:nvSpPr>
        <p:spPr>
          <a:xfrm>
            <a:off x="8680399" y="16002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73" name="Text 58"/>
          <p:cNvSpPr/>
          <p:nvPr/>
        </p:nvSpPr>
        <p:spPr>
          <a:xfrm>
            <a:off x="9073591" y="157276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Development Process</a:t>
            </a:r>
            <a:endParaRPr lang="en-US" sz="1250" dirty="0"/>
          </a:p>
        </p:txBody>
      </p:sp>
      <p:sp>
        <p:nvSpPr>
          <p:cNvPr id="74" name="Shape 59"/>
          <p:cNvSpPr/>
          <p:nvPr/>
        </p:nvSpPr>
        <p:spPr>
          <a:xfrm>
            <a:off x="8834933" y="1938528"/>
            <a:ext cx="365760" cy="365760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75" name="Image 13" descr="ic_uploa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922715" y="2026310"/>
            <a:ext cx="190195" cy="190195"/>
          </a:xfrm>
          <a:prstGeom prst="rect">
            <a:avLst/>
          </a:prstGeom>
        </p:spPr>
      </p:pic>
      <p:sp>
        <p:nvSpPr>
          <p:cNvPr id="76" name="Text 60"/>
          <p:cNvSpPr/>
          <p:nvPr/>
        </p:nvSpPr>
        <p:spPr>
          <a:xfrm>
            <a:off x="8652967" y="2340864"/>
            <a:ext cx="72969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endParaRPr lang="en-US" sz="760" dirty="0"/>
          </a:p>
        </p:txBody>
      </p:sp>
      <p:sp>
        <p:nvSpPr>
          <p:cNvPr id="77" name="Shape 61"/>
          <p:cNvSpPr/>
          <p:nvPr/>
        </p:nvSpPr>
        <p:spPr>
          <a:xfrm>
            <a:off x="9268358" y="2066544"/>
            <a:ext cx="68580" cy="109728"/>
          </a:xfrm>
          <a:prstGeom prst="chevron">
            <a:avLst/>
          </a:prstGeom>
          <a:solidFill>
            <a:srgbClr val="C7CEE3"/>
          </a:solidFill>
          <a:ln/>
        </p:spPr>
      </p:sp>
      <p:sp>
        <p:nvSpPr>
          <p:cNvPr id="78" name="Shape 62"/>
          <p:cNvSpPr/>
          <p:nvPr/>
        </p:nvSpPr>
        <p:spPr>
          <a:xfrm>
            <a:off x="9418320" y="1938528"/>
            <a:ext cx="365760" cy="365760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79" name="Image 14" descr="ic_filter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506102" y="2026310"/>
            <a:ext cx="190195" cy="190195"/>
          </a:xfrm>
          <a:prstGeom prst="rect">
            <a:avLst/>
          </a:prstGeom>
        </p:spPr>
      </p:pic>
      <p:sp>
        <p:nvSpPr>
          <p:cNvPr id="80" name="Text 63"/>
          <p:cNvSpPr/>
          <p:nvPr/>
        </p:nvSpPr>
        <p:spPr>
          <a:xfrm>
            <a:off x="9236354" y="2340864"/>
            <a:ext cx="72969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</a:t>
            </a:r>
            <a:endParaRPr lang="en-US" sz="760" dirty="0"/>
          </a:p>
        </p:txBody>
      </p:sp>
      <p:sp>
        <p:nvSpPr>
          <p:cNvPr id="81" name="Shape 64"/>
          <p:cNvSpPr/>
          <p:nvPr/>
        </p:nvSpPr>
        <p:spPr>
          <a:xfrm>
            <a:off x="9851746" y="2066544"/>
            <a:ext cx="68580" cy="109728"/>
          </a:xfrm>
          <a:prstGeom prst="chevron">
            <a:avLst/>
          </a:prstGeom>
          <a:solidFill>
            <a:srgbClr val="C7CEE3"/>
          </a:solidFill>
          <a:ln/>
        </p:spPr>
      </p:sp>
      <p:sp>
        <p:nvSpPr>
          <p:cNvPr id="82" name="Shape 65"/>
          <p:cNvSpPr/>
          <p:nvPr/>
        </p:nvSpPr>
        <p:spPr>
          <a:xfrm>
            <a:off x="10001707" y="1938528"/>
            <a:ext cx="365760" cy="365760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83" name="Image 15" descr="ic_cpu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089490" y="2026310"/>
            <a:ext cx="190195" cy="190195"/>
          </a:xfrm>
          <a:prstGeom prst="rect">
            <a:avLst/>
          </a:prstGeom>
        </p:spPr>
      </p:pic>
      <p:sp>
        <p:nvSpPr>
          <p:cNvPr id="84" name="Text 66"/>
          <p:cNvSpPr/>
          <p:nvPr/>
        </p:nvSpPr>
        <p:spPr>
          <a:xfrm>
            <a:off x="9819742" y="2340864"/>
            <a:ext cx="72969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</a:t>
            </a:r>
            <a:endParaRPr lang="en-US" sz="760" dirty="0"/>
          </a:p>
        </p:txBody>
      </p:sp>
      <p:sp>
        <p:nvSpPr>
          <p:cNvPr id="85" name="Shape 67"/>
          <p:cNvSpPr/>
          <p:nvPr/>
        </p:nvSpPr>
        <p:spPr>
          <a:xfrm>
            <a:off x="10435133" y="2066544"/>
            <a:ext cx="68580" cy="109728"/>
          </a:xfrm>
          <a:prstGeom prst="chevron">
            <a:avLst/>
          </a:prstGeom>
          <a:solidFill>
            <a:srgbClr val="C7CEE3"/>
          </a:solidFill>
          <a:ln/>
        </p:spPr>
      </p:sp>
      <p:sp>
        <p:nvSpPr>
          <p:cNvPr id="86" name="Shape 68"/>
          <p:cNvSpPr/>
          <p:nvPr/>
        </p:nvSpPr>
        <p:spPr>
          <a:xfrm>
            <a:off x="10585094" y="1938528"/>
            <a:ext cx="365760" cy="365760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87" name="Image 16" descr="ic_gri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672877" y="2026310"/>
            <a:ext cx="190195" cy="190195"/>
          </a:xfrm>
          <a:prstGeom prst="rect">
            <a:avLst/>
          </a:prstGeom>
        </p:spPr>
      </p:pic>
      <p:sp>
        <p:nvSpPr>
          <p:cNvPr id="88" name="Text 69"/>
          <p:cNvSpPr/>
          <p:nvPr/>
        </p:nvSpPr>
        <p:spPr>
          <a:xfrm>
            <a:off x="10403129" y="2340864"/>
            <a:ext cx="72969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760" dirty="0"/>
          </a:p>
        </p:txBody>
      </p:sp>
      <p:sp>
        <p:nvSpPr>
          <p:cNvPr id="89" name="Shape 70"/>
          <p:cNvSpPr/>
          <p:nvPr/>
        </p:nvSpPr>
        <p:spPr>
          <a:xfrm>
            <a:off x="11018520" y="2066544"/>
            <a:ext cx="68580" cy="109728"/>
          </a:xfrm>
          <a:prstGeom prst="chevron">
            <a:avLst/>
          </a:prstGeom>
          <a:solidFill>
            <a:srgbClr val="C7CEE3"/>
          </a:solidFill>
          <a:ln/>
        </p:spPr>
      </p:sp>
      <p:sp>
        <p:nvSpPr>
          <p:cNvPr id="90" name="Shape 71"/>
          <p:cNvSpPr/>
          <p:nvPr/>
        </p:nvSpPr>
        <p:spPr>
          <a:xfrm>
            <a:off x="11168482" y="1938528"/>
            <a:ext cx="365760" cy="365760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91" name="Image 17" descr="ic_check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1256264" y="2026310"/>
            <a:ext cx="190195" cy="190195"/>
          </a:xfrm>
          <a:prstGeom prst="rect">
            <a:avLst/>
          </a:prstGeom>
        </p:spPr>
      </p:pic>
      <p:sp>
        <p:nvSpPr>
          <p:cNvPr id="92" name="Text 72"/>
          <p:cNvSpPr/>
          <p:nvPr/>
        </p:nvSpPr>
        <p:spPr>
          <a:xfrm>
            <a:off x="10986516" y="2340864"/>
            <a:ext cx="72969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</a:t>
            </a:r>
            <a:endParaRPr lang="en-US" sz="760" dirty="0"/>
          </a:p>
        </p:txBody>
      </p:sp>
      <p:sp>
        <p:nvSpPr>
          <p:cNvPr id="93" name="Shape 73"/>
          <p:cNvSpPr/>
          <p:nvPr/>
        </p:nvSpPr>
        <p:spPr>
          <a:xfrm>
            <a:off x="8561527" y="2619756"/>
            <a:ext cx="3246120" cy="1014984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9525">
            <a:solidFill>
              <a:srgbClr val="E2E5EE"/>
            </a:solidFill>
            <a:prstDash val="solid"/>
          </a:ln>
          <a:effectLst>
            <a:outerShdw sx="100000" sy="100000" kx="0" ky="0" algn="bl" rotWithShape="0" blurRad="76200" dist="25400" dir="5400000">
              <a:srgbClr val="9AA5C7">
                <a:alpha val="22000"/>
              </a:srgbClr>
            </a:outerShdw>
          </a:effectLst>
        </p:spPr>
      </p:sp>
      <p:sp>
        <p:nvSpPr>
          <p:cNvPr id="94" name="Shape 74"/>
          <p:cNvSpPr/>
          <p:nvPr/>
        </p:nvSpPr>
        <p:spPr>
          <a:xfrm>
            <a:off x="8680399" y="2738628"/>
            <a:ext cx="310896" cy="310896"/>
          </a:xfrm>
          <a:prstGeom prst="ellipse">
            <a:avLst/>
          </a:prstGeom>
          <a:solidFill>
            <a:srgbClr val="0E9384"/>
          </a:solidFill>
          <a:ln/>
        </p:spPr>
      </p:sp>
      <p:sp>
        <p:nvSpPr>
          <p:cNvPr id="95" name="Text 75"/>
          <p:cNvSpPr/>
          <p:nvPr/>
        </p:nvSpPr>
        <p:spPr>
          <a:xfrm>
            <a:off x="8680399" y="27386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300" dirty="0"/>
          </a:p>
        </p:txBody>
      </p:sp>
      <p:sp>
        <p:nvSpPr>
          <p:cNvPr id="96" name="Text 76"/>
          <p:cNvSpPr/>
          <p:nvPr/>
        </p:nvSpPr>
        <p:spPr>
          <a:xfrm>
            <a:off x="9073591" y="2711196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&amp; Technologies</a:t>
            </a:r>
            <a:endParaRPr lang="en-US" sz="1250" dirty="0"/>
          </a:p>
        </p:txBody>
      </p:sp>
      <p:sp>
        <p:nvSpPr>
          <p:cNvPr id="97" name="Shape 77"/>
          <p:cNvSpPr/>
          <p:nvPr/>
        </p:nvSpPr>
        <p:spPr>
          <a:xfrm>
            <a:off x="8834933" y="3076956"/>
            <a:ext cx="365760" cy="365760"/>
          </a:xfrm>
          <a:prstGeom prst="ellipse">
            <a:avLst/>
          </a:prstGeom>
          <a:solidFill>
            <a:srgbClr val="0E9384"/>
          </a:solidFill>
          <a:ln/>
        </p:spPr>
      </p:sp>
      <p:pic>
        <p:nvPicPr>
          <p:cNvPr id="98" name="Image 18" descr="ic_barchart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922715" y="3164738"/>
            <a:ext cx="190195" cy="190195"/>
          </a:xfrm>
          <a:prstGeom prst="rect">
            <a:avLst/>
          </a:prstGeom>
        </p:spPr>
      </p:pic>
      <p:sp>
        <p:nvSpPr>
          <p:cNvPr id="99" name="Text 78"/>
          <p:cNvSpPr/>
          <p:nvPr/>
        </p:nvSpPr>
        <p:spPr>
          <a:xfrm>
            <a:off x="8652967" y="3479292"/>
            <a:ext cx="72969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760" dirty="0"/>
          </a:p>
        </p:txBody>
      </p:sp>
      <p:sp>
        <p:nvSpPr>
          <p:cNvPr id="100" name="Shape 79"/>
          <p:cNvSpPr/>
          <p:nvPr/>
        </p:nvSpPr>
        <p:spPr>
          <a:xfrm>
            <a:off x="9418320" y="3076956"/>
            <a:ext cx="365760" cy="365760"/>
          </a:xfrm>
          <a:prstGeom prst="ellipse">
            <a:avLst/>
          </a:prstGeom>
          <a:solidFill>
            <a:srgbClr val="0E9384"/>
          </a:solidFill>
          <a:ln/>
        </p:spPr>
      </p:sp>
      <p:pic>
        <p:nvPicPr>
          <p:cNvPr id="101" name="Image 19" descr="ic_filter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506102" y="3164738"/>
            <a:ext cx="190195" cy="190195"/>
          </a:xfrm>
          <a:prstGeom prst="rect">
            <a:avLst/>
          </a:prstGeom>
        </p:spPr>
      </p:pic>
      <p:sp>
        <p:nvSpPr>
          <p:cNvPr id="102" name="Text 80"/>
          <p:cNvSpPr/>
          <p:nvPr/>
        </p:nvSpPr>
        <p:spPr>
          <a:xfrm>
            <a:off x="9236354" y="3479292"/>
            <a:ext cx="72969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Query</a:t>
            </a:r>
            <a:endParaRPr lang="en-US" sz="760" dirty="0"/>
          </a:p>
        </p:txBody>
      </p:sp>
      <p:sp>
        <p:nvSpPr>
          <p:cNvPr id="103" name="Shape 81"/>
          <p:cNvSpPr/>
          <p:nvPr/>
        </p:nvSpPr>
        <p:spPr>
          <a:xfrm>
            <a:off x="10001707" y="3076956"/>
            <a:ext cx="365760" cy="365760"/>
          </a:xfrm>
          <a:prstGeom prst="ellipse">
            <a:avLst/>
          </a:prstGeom>
          <a:solidFill>
            <a:srgbClr val="0E9384"/>
          </a:solidFill>
          <a:ln/>
        </p:spPr>
      </p:sp>
      <p:pic>
        <p:nvPicPr>
          <p:cNvPr id="104" name="Image 20" descr="ic_code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089490" y="3164738"/>
            <a:ext cx="190195" cy="190195"/>
          </a:xfrm>
          <a:prstGeom prst="rect">
            <a:avLst/>
          </a:prstGeom>
        </p:spPr>
      </p:pic>
      <p:sp>
        <p:nvSpPr>
          <p:cNvPr id="105" name="Text 82"/>
          <p:cNvSpPr/>
          <p:nvPr/>
        </p:nvSpPr>
        <p:spPr>
          <a:xfrm>
            <a:off x="9819742" y="3479292"/>
            <a:ext cx="72969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</a:t>
            </a:r>
            <a:endParaRPr lang="en-US" sz="760" dirty="0"/>
          </a:p>
        </p:txBody>
      </p:sp>
      <p:sp>
        <p:nvSpPr>
          <p:cNvPr id="106" name="Shape 83"/>
          <p:cNvSpPr/>
          <p:nvPr/>
        </p:nvSpPr>
        <p:spPr>
          <a:xfrm>
            <a:off x="10585094" y="3076956"/>
            <a:ext cx="365760" cy="365760"/>
          </a:xfrm>
          <a:prstGeom prst="ellipse">
            <a:avLst/>
          </a:prstGeom>
          <a:solidFill>
            <a:srgbClr val="0E9384"/>
          </a:solidFill>
          <a:ln/>
        </p:spPr>
      </p:sp>
      <p:pic>
        <p:nvPicPr>
          <p:cNvPr id="107" name="Image 21" descr="ic_layers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0672877" y="3164738"/>
            <a:ext cx="190195" cy="190195"/>
          </a:xfrm>
          <a:prstGeom prst="rect">
            <a:avLst/>
          </a:prstGeom>
        </p:spPr>
      </p:pic>
      <p:sp>
        <p:nvSpPr>
          <p:cNvPr id="108" name="Text 84"/>
          <p:cNvSpPr/>
          <p:nvPr/>
        </p:nvSpPr>
        <p:spPr>
          <a:xfrm>
            <a:off x="10403129" y="3479292"/>
            <a:ext cx="72969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</a:t>
            </a:r>
            <a:endParaRPr lang="en-US" sz="760" dirty="0"/>
          </a:p>
        </p:txBody>
      </p:sp>
      <p:sp>
        <p:nvSpPr>
          <p:cNvPr id="109" name="Shape 85"/>
          <p:cNvSpPr/>
          <p:nvPr/>
        </p:nvSpPr>
        <p:spPr>
          <a:xfrm>
            <a:off x="11168482" y="3076956"/>
            <a:ext cx="365760" cy="365760"/>
          </a:xfrm>
          <a:prstGeom prst="ellipse">
            <a:avLst/>
          </a:prstGeom>
          <a:solidFill>
            <a:srgbClr val="0E9384"/>
          </a:solidFill>
          <a:ln/>
        </p:spPr>
      </p:sp>
      <p:pic>
        <p:nvPicPr>
          <p:cNvPr id="110" name="Image 22" descr="ic_github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1256264" y="3164738"/>
            <a:ext cx="190195" cy="190195"/>
          </a:xfrm>
          <a:prstGeom prst="rect">
            <a:avLst/>
          </a:prstGeom>
        </p:spPr>
      </p:pic>
      <p:sp>
        <p:nvSpPr>
          <p:cNvPr id="111" name="Text 86"/>
          <p:cNvSpPr/>
          <p:nvPr/>
        </p:nvSpPr>
        <p:spPr>
          <a:xfrm>
            <a:off x="10986516" y="3479292"/>
            <a:ext cx="72969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760" dirty="0"/>
          </a:p>
        </p:txBody>
      </p:sp>
      <p:sp>
        <p:nvSpPr>
          <p:cNvPr id="112" name="Shape 87"/>
          <p:cNvSpPr/>
          <p:nvPr/>
        </p:nvSpPr>
        <p:spPr>
          <a:xfrm>
            <a:off x="8561527" y="3758184"/>
            <a:ext cx="3246120" cy="1014984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9525">
            <a:solidFill>
              <a:srgbClr val="E2E5EE"/>
            </a:solidFill>
            <a:prstDash val="solid"/>
          </a:ln>
          <a:effectLst>
            <a:outerShdw sx="100000" sy="100000" kx="0" ky="0" algn="bl" rotWithShape="0" blurRad="76200" dist="25400" dir="5400000">
              <a:srgbClr val="9AA5C7">
                <a:alpha val="22000"/>
              </a:srgbClr>
            </a:outerShdw>
          </a:effectLst>
        </p:spPr>
      </p:sp>
      <p:sp>
        <p:nvSpPr>
          <p:cNvPr id="113" name="Shape 88"/>
          <p:cNvSpPr/>
          <p:nvPr/>
        </p:nvSpPr>
        <p:spPr>
          <a:xfrm>
            <a:off x="8680399" y="3877056"/>
            <a:ext cx="310896" cy="310896"/>
          </a:xfrm>
          <a:prstGeom prst="ellipse">
            <a:avLst/>
          </a:prstGeom>
          <a:solidFill>
            <a:srgbClr val="D4537E"/>
          </a:solidFill>
          <a:ln/>
        </p:spPr>
      </p:sp>
      <p:sp>
        <p:nvSpPr>
          <p:cNvPr id="114" name="Text 89"/>
          <p:cNvSpPr/>
          <p:nvPr/>
        </p:nvSpPr>
        <p:spPr>
          <a:xfrm>
            <a:off x="8680399" y="38770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300" dirty="0"/>
          </a:p>
        </p:txBody>
      </p:sp>
      <p:sp>
        <p:nvSpPr>
          <p:cNvPr id="115" name="Text 90"/>
          <p:cNvSpPr/>
          <p:nvPr/>
        </p:nvSpPr>
        <p:spPr>
          <a:xfrm>
            <a:off x="9073591" y="3849624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Deliverables</a:t>
            </a:r>
            <a:endParaRPr lang="en-US" sz="1250" dirty="0"/>
          </a:p>
        </p:txBody>
      </p:sp>
      <p:sp>
        <p:nvSpPr>
          <p:cNvPr id="116" name="Shape 91"/>
          <p:cNvSpPr/>
          <p:nvPr/>
        </p:nvSpPr>
        <p:spPr>
          <a:xfrm>
            <a:off x="8907856" y="4215384"/>
            <a:ext cx="365760" cy="365760"/>
          </a:xfrm>
          <a:prstGeom prst="ellipse">
            <a:avLst/>
          </a:prstGeom>
          <a:solidFill>
            <a:srgbClr val="D4537E"/>
          </a:solidFill>
          <a:ln/>
        </p:spPr>
      </p:sp>
      <p:pic>
        <p:nvPicPr>
          <p:cNvPr id="117" name="Image 23" descr="ic_piechart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995639" y="4303166"/>
            <a:ext cx="190195" cy="190195"/>
          </a:xfrm>
          <a:prstGeom prst="rect">
            <a:avLst/>
          </a:prstGeom>
        </p:spPr>
      </p:pic>
      <p:sp>
        <p:nvSpPr>
          <p:cNvPr id="118" name="Text 92"/>
          <p:cNvSpPr/>
          <p:nvPr/>
        </p:nvSpPr>
        <p:spPr>
          <a:xfrm>
            <a:off x="8652967" y="4617720"/>
            <a:ext cx="8755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760" dirty="0"/>
          </a:p>
        </p:txBody>
      </p:sp>
      <p:sp>
        <p:nvSpPr>
          <p:cNvPr id="119" name="Shape 93"/>
          <p:cNvSpPr/>
          <p:nvPr/>
        </p:nvSpPr>
        <p:spPr>
          <a:xfrm>
            <a:off x="9637090" y="4215384"/>
            <a:ext cx="365760" cy="365760"/>
          </a:xfrm>
          <a:prstGeom prst="ellipse">
            <a:avLst/>
          </a:prstGeom>
          <a:solidFill>
            <a:srgbClr val="D4537E"/>
          </a:solidFill>
          <a:ln/>
        </p:spPr>
      </p:sp>
      <p:pic>
        <p:nvPicPr>
          <p:cNvPr id="120" name="Image 24" descr="ic_database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9724873" y="4303166"/>
            <a:ext cx="190195" cy="190195"/>
          </a:xfrm>
          <a:prstGeom prst="rect">
            <a:avLst/>
          </a:prstGeom>
        </p:spPr>
      </p:pic>
      <p:sp>
        <p:nvSpPr>
          <p:cNvPr id="121" name="Text 94"/>
          <p:cNvSpPr/>
          <p:nvPr/>
        </p:nvSpPr>
        <p:spPr>
          <a:xfrm>
            <a:off x="9382201" y="4617720"/>
            <a:ext cx="8755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Schema</a:t>
            </a:r>
            <a:endParaRPr lang="en-US" sz="760" dirty="0"/>
          </a:p>
        </p:txBody>
      </p:sp>
      <p:sp>
        <p:nvSpPr>
          <p:cNvPr id="122" name="Shape 95"/>
          <p:cNvSpPr/>
          <p:nvPr/>
        </p:nvSpPr>
        <p:spPr>
          <a:xfrm>
            <a:off x="10366324" y="4215384"/>
            <a:ext cx="365760" cy="365760"/>
          </a:xfrm>
          <a:prstGeom prst="ellipse">
            <a:avLst/>
          </a:prstGeom>
          <a:solidFill>
            <a:srgbClr val="D4537E"/>
          </a:solidFill>
          <a:ln/>
        </p:spPr>
      </p:sp>
      <p:pic>
        <p:nvPicPr>
          <p:cNvPr id="123" name="Image 25" descr="ic_filetext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0454107" y="4303166"/>
            <a:ext cx="190195" cy="190195"/>
          </a:xfrm>
          <a:prstGeom prst="rect">
            <a:avLst/>
          </a:prstGeom>
        </p:spPr>
      </p:pic>
      <p:sp>
        <p:nvSpPr>
          <p:cNvPr id="124" name="Text 96"/>
          <p:cNvSpPr/>
          <p:nvPr/>
        </p:nvSpPr>
        <p:spPr>
          <a:xfrm>
            <a:off x="10111435" y="4617720"/>
            <a:ext cx="8755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 Docs</a:t>
            </a:r>
            <a:endParaRPr lang="en-US" sz="760" dirty="0"/>
          </a:p>
        </p:txBody>
      </p:sp>
      <p:sp>
        <p:nvSpPr>
          <p:cNvPr id="125" name="Shape 97"/>
          <p:cNvSpPr/>
          <p:nvPr/>
        </p:nvSpPr>
        <p:spPr>
          <a:xfrm>
            <a:off x="11095558" y="4215384"/>
            <a:ext cx="365760" cy="365760"/>
          </a:xfrm>
          <a:prstGeom prst="ellipse">
            <a:avLst/>
          </a:prstGeom>
          <a:solidFill>
            <a:srgbClr val="D4537E"/>
          </a:solidFill>
          <a:ln/>
        </p:spPr>
      </p:sp>
      <p:pic>
        <p:nvPicPr>
          <p:cNvPr id="126" name="Image 26" descr="ic_github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1183341" y="4303166"/>
            <a:ext cx="190195" cy="190195"/>
          </a:xfrm>
          <a:prstGeom prst="rect">
            <a:avLst/>
          </a:prstGeom>
        </p:spPr>
      </p:pic>
      <p:sp>
        <p:nvSpPr>
          <p:cNvPr id="127" name="Text 98"/>
          <p:cNvSpPr/>
          <p:nvPr/>
        </p:nvSpPr>
        <p:spPr>
          <a:xfrm>
            <a:off x="10840669" y="4617720"/>
            <a:ext cx="8755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</a:t>
            </a:r>
            <a:endParaRPr lang="en-US" sz="760" dirty="0"/>
          </a:p>
        </p:txBody>
      </p:sp>
      <p:sp>
        <p:nvSpPr>
          <p:cNvPr id="128" name="Shape 99"/>
          <p:cNvSpPr/>
          <p:nvPr/>
        </p:nvSpPr>
        <p:spPr>
          <a:xfrm>
            <a:off x="8561527" y="4896612"/>
            <a:ext cx="3246120" cy="1014984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9525">
            <a:solidFill>
              <a:srgbClr val="E2E5EE"/>
            </a:solidFill>
            <a:prstDash val="solid"/>
          </a:ln>
          <a:effectLst>
            <a:outerShdw sx="100000" sy="100000" kx="0" ky="0" algn="bl" rotWithShape="0" blurRad="76200" dist="25400" dir="5400000">
              <a:srgbClr val="9AA5C7">
                <a:alpha val="22000"/>
              </a:srgbClr>
            </a:outerShdw>
          </a:effectLst>
        </p:spPr>
      </p:sp>
      <p:sp>
        <p:nvSpPr>
          <p:cNvPr id="129" name="Shape 100"/>
          <p:cNvSpPr/>
          <p:nvPr/>
        </p:nvSpPr>
        <p:spPr>
          <a:xfrm>
            <a:off x="8680399" y="5015484"/>
            <a:ext cx="310896" cy="310896"/>
          </a:xfrm>
          <a:prstGeom prst="ellipse">
            <a:avLst/>
          </a:prstGeom>
          <a:solidFill>
            <a:srgbClr val="D85A30"/>
          </a:solidFill>
          <a:ln/>
        </p:spPr>
      </p:sp>
      <p:sp>
        <p:nvSpPr>
          <p:cNvPr id="130" name="Text 101"/>
          <p:cNvSpPr/>
          <p:nvPr/>
        </p:nvSpPr>
        <p:spPr>
          <a:xfrm>
            <a:off x="8680399" y="50154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300" dirty="0"/>
          </a:p>
        </p:txBody>
      </p:sp>
      <p:sp>
        <p:nvSpPr>
          <p:cNvPr id="131" name="Text 102"/>
          <p:cNvSpPr/>
          <p:nvPr/>
        </p:nvSpPr>
        <p:spPr>
          <a:xfrm>
            <a:off x="9073591" y="498805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&amp; KPIs</a:t>
            </a:r>
            <a:endParaRPr lang="en-US" sz="1250" dirty="0"/>
          </a:p>
        </p:txBody>
      </p:sp>
      <p:sp>
        <p:nvSpPr>
          <p:cNvPr id="132" name="Shape 103"/>
          <p:cNvSpPr/>
          <p:nvPr/>
        </p:nvSpPr>
        <p:spPr>
          <a:xfrm>
            <a:off x="8907856" y="5353812"/>
            <a:ext cx="365760" cy="365760"/>
          </a:xfrm>
          <a:prstGeom prst="ellipse">
            <a:avLst/>
          </a:prstGeom>
          <a:solidFill>
            <a:srgbClr val="D85A30"/>
          </a:solidFill>
          <a:ln/>
        </p:spPr>
      </p:sp>
      <p:pic>
        <p:nvPicPr>
          <p:cNvPr id="133" name="Image 27" descr="ic_trenddown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8995639" y="5441594"/>
            <a:ext cx="190195" cy="190195"/>
          </a:xfrm>
          <a:prstGeom prst="rect">
            <a:avLst/>
          </a:prstGeom>
        </p:spPr>
      </p:pic>
      <p:sp>
        <p:nvSpPr>
          <p:cNvPr id="134" name="Text 104"/>
          <p:cNvSpPr/>
          <p:nvPr/>
        </p:nvSpPr>
        <p:spPr>
          <a:xfrm>
            <a:off x="8652967" y="5756148"/>
            <a:ext cx="8755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Attrition Rate</a:t>
            </a:r>
            <a:endParaRPr lang="en-US" sz="760" dirty="0"/>
          </a:p>
        </p:txBody>
      </p:sp>
      <p:sp>
        <p:nvSpPr>
          <p:cNvPr id="135" name="Shape 105"/>
          <p:cNvSpPr/>
          <p:nvPr/>
        </p:nvSpPr>
        <p:spPr>
          <a:xfrm>
            <a:off x="9637090" y="5353812"/>
            <a:ext cx="365760" cy="365760"/>
          </a:xfrm>
          <a:prstGeom prst="ellipse">
            <a:avLst/>
          </a:prstGeom>
          <a:solidFill>
            <a:srgbClr val="D85A30"/>
          </a:solidFill>
          <a:ln/>
        </p:spPr>
      </p:sp>
      <p:pic>
        <p:nvPicPr>
          <p:cNvPr id="136" name="Image 28" descr="ic_heart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9724873" y="5441594"/>
            <a:ext cx="190195" cy="190195"/>
          </a:xfrm>
          <a:prstGeom prst="rect">
            <a:avLst/>
          </a:prstGeom>
        </p:spPr>
      </p:pic>
      <p:sp>
        <p:nvSpPr>
          <p:cNvPr id="137" name="Text 106"/>
          <p:cNvSpPr/>
          <p:nvPr/>
        </p:nvSpPr>
        <p:spPr>
          <a:xfrm>
            <a:off x="9382201" y="5756148"/>
            <a:ext cx="8755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Satisfaction</a:t>
            </a:r>
            <a:endParaRPr lang="en-US" sz="760" dirty="0"/>
          </a:p>
        </p:txBody>
      </p:sp>
      <p:sp>
        <p:nvSpPr>
          <p:cNvPr id="138" name="Shape 107"/>
          <p:cNvSpPr/>
          <p:nvPr/>
        </p:nvSpPr>
        <p:spPr>
          <a:xfrm>
            <a:off x="10366324" y="5353812"/>
            <a:ext cx="365760" cy="365760"/>
          </a:xfrm>
          <a:prstGeom prst="ellipse">
            <a:avLst/>
          </a:prstGeom>
          <a:solidFill>
            <a:srgbClr val="D85A30"/>
          </a:solidFill>
          <a:ln/>
        </p:spPr>
      </p:sp>
      <p:pic>
        <p:nvPicPr>
          <p:cNvPr id="139" name="Image 29" descr="ic_clock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10454107" y="5441594"/>
            <a:ext cx="190195" cy="190195"/>
          </a:xfrm>
          <a:prstGeom prst="rect">
            <a:avLst/>
          </a:prstGeom>
        </p:spPr>
      </p:pic>
      <p:sp>
        <p:nvSpPr>
          <p:cNvPr id="140" name="Text 108"/>
          <p:cNvSpPr/>
          <p:nvPr/>
        </p:nvSpPr>
        <p:spPr>
          <a:xfrm>
            <a:off x="10111435" y="5756148"/>
            <a:ext cx="8755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&lt; 5s</a:t>
            </a:r>
            <a:endParaRPr lang="en-US" sz="760" dirty="0"/>
          </a:p>
        </p:txBody>
      </p:sp>
      <p:sp>
        <p:nvSpPr>
          <p:cNvPr id="141" name="Shape 109"/>
          <p:cNvSpPr/>
          <p:nvPr/>
        </p:nvSpPr>
        <p:spPr>
          <a:xfrm>
            <a:off x="11095558" y="5353812"/>
            <a:ext cx="365760" cy="365760"/>
          </a:xfrm>
          <a:prstGeom prst="ellipse">
            <a:avLst/>
          </a:prstGeom>
          <a:solidFill>
            <a:srgbClr val="D85A30"/>
          </a:solidFill>
          <a:ln/>
        </p:spPr>
      </p:sp>
      <p:pic>
        <p:nvPicPr>
          <p:cNvPr id="142" name="Image 30" descr="ic_globe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11183341" y="5441594"/>
            <a:ext cx="190195" cy="190195"/>
          </a:xfrm>
          <a:prstGeom prst="rect">
            <a:avLst/>
          </a:prstGeom>
        </p:spPr>
      </p:pic>
      <p:sp>
        <p:nvSpPr>
          <p:cNvPr id="143" name="Text 110"/>
          <p:cNvSpPr/>
          <p:nvPr/>
        </p:nvSpPr>
        <p:spPr>
          <a:xfrm>
            <a:off x="10840669" y="5756148"/>
            <a:ext cx="8755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HR-Wide Reach</a:t>
            </a:r>
            <a:endParaRPr lang="en-US" sz="760" dirty="0"/>
          </a:p>
        </p:txBody>
      </p:sp>
      <p:sp>
        <p:nvSpPr>
          <p:cNvPr id="144" name="Shape 111"/>
          <p:cNvSpPr/>
          <p:nvPr/>
        </p:nvSpPr>
        <p:spPr>
          <a:xfrm>
            <a:off x="3831336" y="1481328"/>
            <a:ext cx="4529023" cy="4407408"/>
          </a:xfrm>
          <a:prstGeom prst="roundRect">
            <a:avLst>
              <a:gd name="adj" fmla="val 2905"/>
            </a:avLst>
          </a:prstGeom>
          <a:solidFill>
            <a:srgbClr val="141B4D"/>
          </a:solidFill>
          <a:ln/>
          <a:effectLst>
            <a:outerShdw sx="100000" sy="100000" kx="0" ky="0" algn="bl" rotWithShape="0" blurRad="127000" dist="50800" dir="5400000">
              <a:srgbClr val="141B4D">
                <a:alpha val="35000"/>
              </a:srgbClr>
            </a:outerShdw>
          </a:effectLst>
        </p:spPr>
      </p:sp>
      <p:sp>
        <p:nvSpPr>
          <p:cNvPr id="145" name="Shape 112"/>
          <p:cNvSpPr/>
          <p:nvPr/>
        </p:nvSpPr>
        <p:spPr>
          <a:xfrm>
            <a:off x="4632808" y="1024128"/>
            <a:ext cx="2926080" cy="1828800"/>
          </a:xfrm>
          <a:prstGeom prst="ellipse">
            <a:avLst/>
          </a:prstGeom>
          <a:solidFill>
            <a:srgbClr val="7C3AED">
              <a:alpha val="22000"/>
            </a:srgbClr>
          </a:solidFill>
          <a:ln/>
        </p:spPr>
      </p:sp>
      <p:sp>
        <p:nvSpPr>
          <p:cNvPr id="146" name="Shape 113"/>
          <p:cNvSpPr/>
          <p:nvPr/>
        </p:nvSpPr>
        <p:spPr>
          <a:xfrm>
            <a:off x="4907128" y="4517136"/>
            <a:ext cx="2377440" cy="1828800"/>
          </a:xfrm>
          <a:prstGeom prst="ellipse">
            <a:avLst/>
          </a:prstGeom>
          <a:solidFill>
            <a:srgbClr val="0E9384">
              <a:alpha val="20000"/>
            </a:srgbClr>
          </a:solidFill>
          <a:ln/>
        </p:spPr>
      </p:sp>
      <p:sp>
        <p:nvSpPr>
          <p:cNvPr id="147" name="Text 114"/>
          <p:cNvSpPr/>
          <p:nvPr/>
        </p:nvSpPr>
        <p:spPr>
          <a:xfrm>
            <a:off x="5065776" y="1645920"/>
            <a:ext cx="206014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B8C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BI WORKSPACE</a:t>
            </a:r>
            <a:endParaRPr lang="en-US" sz="1000" dirty="0"/>
          </a:p>
        </p:txBody>
      </p:sp>
      <p:sp>
        <p:nvSpPr>
          <p:cNvPr id="148" name="Shape 115"/>
          <p:cNvSpPr/>
          <p:nvPr/>
        </p:nvSpPr>
        <p:spPr>
          <a:xfrm>
            <a:off x="4123944" y="2011680"/>
            <a:ext cx="3943807" cy="2935224"/>
          </a:xfrm>
          <a:prstGeom prst="roundRect">
            <a:avLst>
              <a:gd name="adj" fmla="val 3115"/>
            </a:avLst>
          </a:prstGeom>
          <a:solidFill>
            <a:srgbClr val="0B1030"/>
          </a:solidFill>
          <a:ln/>
        </p:spPr>
      </p:sp>
      <p:sp>
        <p:nvSpPr>
          <p:cNvPr id="149" name="Shape 116"/>
          <p:cNvSpPr/>
          <p:nvPr/>
        </p:nvSpPr>
        <p:spPr>
          <a:xfrm>
            <a:off x="6050128" y="4946904"/>
            <a:ext cx="91440" cy="201168"/>
          </a:xfrm>
          <a:prstGeom prst="rect">
            <a:avLst/>
          </a:prstGeom>
          <a:solidFill>
            <a:srgbClr val="0B1030"/>
          </a:solidFill>
          <a:ln/>
        </p:spPr>
      </p:sp>
      <p:sp>
        <p:nvSpPr>
          <p:cNvPr id="150" name="Shape 117"/>
          <p:cNvSpPr/>
          <p:nvPr/>
        </p:nvSpPr>
        <p:spPr>
          <a:xfrm>
            <a:off x="5592928" y="5148072"/>
            <a:ext cx="1005840" cy="73152"/>
          </a:xfrm>
          <a:prstGeom prst="rect">
            <a:avLst>
              <a:gd name="adj" fmla="val 25000"/>
            </a:avLst>
          </a:prstGeom>
          <a:solidFill>
            <a:srgbClr val="0B1030"/>
          </a:solidFill>
          <a:ln/>
        </p:spPr>
      </p:sp>
      <p:sp>
        <p:nvSpPr>
          <p:cNvPr id="151" name="Shape 118"/>
          <p:cNvSpPr/>
          <p:nvPr/>
        </p:nvSpPr>
        <p:spPr>
          <a:xfrm>
            <a:off x="4197096" y="2084832"/>
            <a:ext cx="3797503" cy="2788920"/>
          </a:xfrm>
          <a:prstGeom prst="roundRect">
            <a:avLst>
              <a:gd name="adj" fmla="val 1967"/>
            </a:avLst>
          </a:prstGeom>
          <a:solidFill>
            <a:srgbClr val="FFFFFF"/>
          </a:solidFill>
          <a:ln/>
        </p:spPr>
      </p:sp>
      <p:sp>
        <p:nvSpPr>
          <p:cNvPr id="152" name="Text 119"/>
          <p:cNvSpPr/>
          <p:nvPr/>
        </p:nvSpPr>
        <p:spPr>
          <a:xfrm>
            <a:off x="4325112" y="2157984"/>
            <a:ext cx="354147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 Analytics — Executive View</a:t>
            </a:r>
            <a:endParaRPr lang="en-US" sz="950" dirty="0"/>
          </a:p>
        </p:txBody>
      </p:sp>
      <p:sp>
        <p:nvSpPr>
          <p:cNvPr id="153" name="Shape 120"/>
          <p:cNvSpPr/>
          <p:nvPr/>
        </p:nvSpPr>
        <p:spPr>
          <a:xfrm>
            <a:off x="4325112" y="2395728"/>
            <a:ext cx="1119530" cy="475488"/>
          </a:xfrm>
          <a:prstGeom prst="roundRect">
            <a:avLst>
              <a:gd name="adj" fmla="val 9615"/>
            </a:avLst>
          </a:prstGeom>
          <a:solidFill>
            <a:srgbClr val="EEF1FB"/>
          </a:solidFill>
          <a:ln/>
        </p:spPr>
      </p:sp>
      <p:sp>
        <p:nvSpPr>
          <p:cNvPr id="154" name="Text 121"/>
          <p:cNvSpPr/>
          <p:nvPr/>
        </p:nvSpPr>
        <p:spPr>
          <a:xfrm>
            <a:off x="4325112" y="2432304"/>
            <a:ext cx="111953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1,470</a:t>
            </a:r>
            <a:endParaRPr lang="en-US" sz="1300" dirty="0"/>
          </a:p>
        </p:txBody>
      </p:sp>
      <p:sp>
        <p:nvSpPr>
          <p:cNvPr id="155" name="Text 122"/>
          <p:cNvSpPr/>
          <p:nvPr/>
        </p:nvSpPr>
        <p:spPr>
          <a:xfrm>
            <a:off x="4325112" y="2670048"/>
            <a:ext cx="111953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</a:t>
            </a:r>
            <a:endParaRPr lang="en-US" sz="750" dirty="0"/>
          </a:p>
        </p:txBody>
      </p:sp>
      <p:sp>
        <p:nvSpPr>
          <p:cNvPr id="156" name="Shape 123"/>
          <p:cNvSpPr/>
          <p:nvPr/>
        </p:nvSpPr>
        <p:spPr>
          <a:xfrm>
            <a:off x="5536082" y="2395728"/>
            <a:ext cx="1119530" cy="475488"/>
          </a:xfrm>
          <a:prstGeom prst="roundRect">
            <a:avLst>
              <a:gd name="adj" fmla="val 9615"/>
            </a:avLst>
          </a:prstGeom>
          <a:solidFill>
            <a:srgbClr val="EEF1FB"/>
          </a:solidFill>
          <a:ln/>
        </p:spPr>
      </p:sp>
      <p:sp>
        <p:nvSpPr>
          <p:cNvPr id="157" name="Text 124"/>
          <p:cNvSpPr/>
          <p:nvPr/>
        </p:nvSpPr>
        <p:spPr>
          <a:xfrm>
            <a:off x="5536082" y="2432304"/>
            <a:ext cx="111953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6,709</a:t>
            </a:r>
            <a:endParaRPr lang="en-US" sz="1300" dirty="0"/>
          </a:p>
        </p:txBody>
      </p:sp>
      <p:sp>
        <p:nvSpPr>
          <p:cNvPr id="158" name="Text 125"/>
          <p:cNvSpPr/>
          <p:nvPr/>
        </p:nvSpPr>
        <p:spPr>
          <a:xfrm>
            <a:off x="5536082" y="2670048"/>
            <a:ext cx="111953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</a:t>
            </a:r>
            <a:endParaRPr lang="en-US" sz="750" dirty="0"/>
          </a:p>
        </p:txBody>
      </p:sp>
      <p:sp>
        <p:nvSpPr>
          <p:cNvPr id="159" name="Shape 126"/>
          <p:cNvSpPr/>
          <p:nvPr/>
        </p:nvSpPr>
        <p:spPr>
          <a:xfrm>
            <a:off x="6747053" y="2395728"/>
            <a:ext cx="1119530" cy="475488"/>
          </a:xfrm>
          <a:prstGeom prst="roundRect">
            <a:avLst>
              <a:gd name="adj" fmla="val 9615"/>
            </a:avLst>
          </a:prstGeom>
          <a:solidFill>
            <a:srgbClr val="EEF1FB"/>
          </a:solidFill>
          <a:ln/>
        </p:spPr>
      </p:sp>
      <p:sp>
        <p:nvSpPr>
          <p:cNvPr id="160" name="Text 127"/>
          <p:cNvSpPr/>
          <p:nvPr/>
        </p:nvSpPr>
        <p:spPr>
          <a:xfrm>
            <a:off x="6747053" y="2432304"/>
            <a:ext cx="111953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300" dirty="0"/>
          </a:p>
        </p:txBody>
      </p:sp>
      <p:sp>
        <p:nvSpPr>
          <p:cNvPr id="161" name="Text 128"/>
          <p:cNvSpPr/>
          <p:nvPr/>
        </p:nvSpPr>
        <p:spPr>
          <a:xfrm>
            <a:off x="6747053" y="2670048"/>
            <a:ext cx="111953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Pages</a:t>
            </a:r>
            <a:endParaRPr lang="en-US" sz="750" dirty="0"/>
          </a:p>
        </p:txBody>
      </p:sp>
      <p:graphicFrame>
        <p:nvGraphicFramePr>
          <p:cNvPr id="162" name="Chart 0" descr=""/>
          <p:cNvGraphicFramePr/>
          <p:nvPr/>
        </p:nvGraphicFramePr>
        <p:xfrm>
          <a:off x="4325112" y="2999232"/>
          <a:ext cx="1983224" cy="176479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2"/>
          </a:graphicData>
        </a:graphic>
      </p:graphicFrame>
      <p:graphicFrame>
        <p:nvGraphicFramePr>
          <p:cNvPr id="163" name="Chart 1" descr=""/>
          <p:cNvGraphicFramePr/>
          <p:nvPr/>
        </p:nvGraphicFramePr>
        <p:xfrm>
          <a:off x="6381488" y="2999232"/>
          <a:ext cx="1416588" cy="176479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3"/>
          </a:graphicData>
        </a:graphic>
      </p:graphicFrame>
      <p:sp>
        <p:nvSpPr>
          <p:cNvPr id="164" name="Shape 129"/>
          <p:cNvSpPr/>
          <p:nvPr/>
        </p:nvSpPr>
        <p:spPr>
          <a:xfrm>
            <a:off x="3922776" y="1655064"/>
            <a:ext cx="1207008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E2E5EE"/>
            </a:solidFill>
            <a:prstDash val="solid"/>
          </a:ln>
          <a:effectLst>
            <a:outerShdw sx="100000" sy="100000" kx="0" ky="0" algn="bl" rotWithShape="0" blurRad="50800" dist="12700" dir="5400000">
              <a:srgbClr val="141B4D">
                <a:alpha val="30000"/>
              </a:srgbClr>
            </a:outerShdw>
          </a:effectLst>
        </p:spPr>
      </p:sp>
      <p:sp>
        <p:nvSpPr>
          <p:cNvPr id="165" name="Shape 130"/>
          <p:cNvSpPr/>
          <p:nvPr/>
        </p:nvSpPr>
        <p:spPr>
          <a:xfrm>
            <a:off x="3968496" y="1700784"/>
            <a:ext cx="219456" cy="219456"/>
          </a:xfrm>
          <a:prstGeom prst="ellipse">
            <a:avLst/>
          </a:prstGeom>
          <a:solidFill>
            <a:srgbClr val="D85A30"/>
          </a:solidFill>
          <a:ln/>
        </p:spPr>
      </p:sp>
      <p:pic>
        <p:nvPicPr>
          <p:cNvPr id="166" name="Image 31" descr="ic_database.pn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4021165" y="1753453"/>
            <a:ext cx="114117" cy="114117"/>
          </a:xfrm>
          <a:prstGeom prst="rect">
            <a:avLst/>
          </a:prstGeom>
        </p:spPr>
      </p:pic>
      <p:sp>
        <p:nvSpPr>
          <p:cNvPr id="167" name="Text 131"/>
          <p:cNvSpPr/>
          <p:nvPr/>
        </p:nvSpPr>
        <p:spPr>
          <a:xfrm>
            <a:off x="4242816" y="1655064"/>
            <a:ext cx="841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 SCHEMA</a:t>
            </a:r>
            <a:endParaRPr lang="en-US" sz="760" dirty="0"/>
          </a:p>
        </p:txBody>
      </p:sp>
      <p:sp>
        <p:nvSpPr>
          <p:cNvPr id="168" name="Shape 132"/>
          <p:cNvSpPr/>
          <p:nvPr/>
        </p:nvSpPr>
        <p:spPr>
          <a:xfrm>
            <a:off x="7061911" y="1655064"/>
            <a:ext cx="1207008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E2E5EE"/>
            </a:solidFill>
            <a:prstDash val="solid"/>
          </a:ln>
          <a:effectLst>
            <a:outerShdw sx="100000" sy="100000" kx="0" ky="0" algn="bl" rotWithShape="0" blurRad="50800" dist="12700" dir="5400000">
              <a:srgbClr val="141B4D">
                <a:alpha val="30000"/>
              </a:srgbClr>
            </a:outerShdw>
          </a:effectLst>
        </p:spPr>
      </p:sp>
      <p:sp>
        <p:nvSpPr>
          <p:cNvPr id="169" name="Shape 133"/>
          <p:cNvSpPr/>
          <p:nvPr/>
        </p:nvSpPr>
        <p:spPr>
          <a:xfrm>
            <a:off x="7107631" y="1700784"/>
            <a:ext cx="219456" cy="219456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170" name="Image 32" descr="ic_code.png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7160301" y="1753453"/>
            <a:ext cx="114117" cy="114117"/>
          </a:xfrm>
          <a:prstGeom prst="rect">
            <a:avLst/>
          </a:prstGeom>
        </p:spPr>
      </p:pic>
      <p:sp>
        <p:nvSpPr>
          <p:cNvPr id="171" name="Text 134"/>
          <p:cNvSpPr/>
          <p:nvPr/>
        </p:nvSpPr>
        <p:spPr>
          <a:xfrm>
            <a:off x="7381951" y="1655064"/>
            <a:ext cx="841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DAX MEASURES</a:t>
            </a:r>
            <a:endParaRPr lang="en-US" sz="760" dirty="0"/>
          </a:p>
        </p:txBody>
      </p:sp>
      <p:sp>
        <p:nvSpPr>
          <p:cNvPr id="172" name="Shape 135"/>
          <p:cNvSpPr/>
          <p:nvPr/>
        </p:nvSpPr>
        <p:spPr>
          <a:xfrm>
            <a:off x="3922776" y="5399532"/>
            <a:ext cx="1207008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E2E5EE"/>
            </a:solidFill>
            <a:prstDash val="solid"/>
          </a:ln>
          <a:effectLst>
            <a:outerShdw sx="100000" sy="100000" kx="0" ky="0" algn="bl" rotWithShape="0" blurRad="50800" dist="12700" dir="5400000">
              <a:srgbClr val="141B4D">
                <a:alpha val="30000"/>
              </a:srgbClr>
            </a:outerShdw>
          </a:effectLst>
        </p:spPr>
      </p:sp>
      <p:sp>
        <p:nvSpPr>
          <p:cNvPr id="173" name="Shape 136"/>
          <p:cNvSpPr/>
          <p:nvPr/>
        </p:nvSpPr>
        <p:spPr>
          <a:xfrm>
            <a:off x="3968496" y="5445252"/>
            <a:ext cx="219456" cy="219456"/>
          </a:xfrm>
          <a:prstGeom prst="ellipse">
            <a:avLst/>
          </a:prstGeom>
          <a:solidFill>
            <a:srgbClr val="D4537E"/>
          </a:solidFill>
          <a:ln/>
        </p:spPr>
      </p:sp>
      <p:pic>
        <p:nvPicPr>
          <p:cNvPr id="174" name="Image 33" descr="ic_trenddown.png">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4021165" y="5497921"/>
            <a:ext cx="114117" cy="114117"/>
          </a:xfrm>
          <a:prstGeom prst="rect">
            <a:avLst/>
          </a:prstGeom>
        </p:spPr>
      </p:pic>
      <p:sp>
        <p:nvSpPr>
          <p:cNvPr id="175" name="Text 137"/>
          <p:cNvSpPr/>
          <p:nvPr/>
        </p:nvSpPr>
        <p:spPr>
          <a:xfrm>
            <a:off x="4242816" y="5399532"/>
            <a:ext cx="841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ATTRITION</a:t>
            </a:r>
            <a:endParaRPr lang="en-US" sz="760" dirty="0"/>
          </a:p>
        </p:txBody>
      </p:sp>
      <p:sp>
        <p:nvSpPr>
          <p:cNvPr id="176" name="Shape 138"/>
          <p:cNvSpPr/>
          <p:nvPr/>
        </p:nvSpPr>
        <p:spPr>
          <a:xfrm>
            <a:off x="7061911" y="5399532"/>
            <a:ext cx="1207008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E2E5EE"/>
            </a:solidFill>
            <a:prstDash val="solid"/>
          </a:ln>
          <a:effectLst>
            <a:outerShdw sx="100000" sy="100000" kx="0" ky="0" algn="bl" rotWithShape="0" blurRad="50800" dist="12700" dir="5400000">
              <a:srgbClr val="141B4D">
                <a:alpha val="30000"/>
              </a:srgbClr>
            </a:outerShdw>
          </a:effectLst>
        </p:spPr>
      </p:sp>
      <p:sp>
        <p:nvSpPr>
          <p:cNvPr id="177" name="Shape 139"/>
          <p:cNvSpPr/>
          <p:nvPr/>
        </p:nvSpPr>
        <p:spPr>
          <a:xfrm>
            <a:off x="7107631" y="5445252"/>
            <a:ext cx="219456" cy="219456"/>
          </a:xfrm>
          <a:prstGeom prst="ellipse">
            <a:avLst/>
          </a:prstGeom>
          <a:solidFill>
            <a:srgbClr val="0E9384"/>
          </a:solidFill>
          <a:ln/>
        </p:spPr>
      </p:sp>
      <p:pic>
        <p:nvPicPr>
          <p:cNvPr id="178" name="Image 34" descr="ic_github.png">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7160301" y="5497921"/>
            <a:ext cx="114117" cy="114117"/>
          </a:xfrm>
          <a:prstGeom prst="rect">
            <a:avLst/>
          </a:prstGeom>
        </p:spPr>
      </p:pic>
      <p:sp>
        <p:nvSpPr>
          <p:cNvPr id="179" name="Text 140"/>
          <p:cNvSpPr/>
          <p:nvPr/>
        </p:nvSpPr>
        <p:spPr>
          <a:xfrm>
            <a:off x="7381951" y="5399532"/>
            <a:ext cx="841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REPO</a:t>
            </a:r>
            <a:endParaRPr lang="en-US" sz="760" dirty="0"/>
          </a:p>
        </p:txBody>
      </p:sp>
      <p:sp>
        <p:nvSpPr>
          <p:cNvPr id="180" name="Shape 141"/>
          <p:cNvSpPr/>
          <p:nvPr/>
        </p:nvSpPr>
        <p:spPr>
          <a:xfrm>
            <a:off x="384048" y="6053328"/>
            <a:ext cx="11423599" cy="621792"/>
          </a:xfrm>
          <a:prstGeom prst="roundRect">
            <a:avLst>
              <a:gd name="adj" fmla="val 13235"/>
            </a:avLst>
          </a:prstGeom>
          <a:solidFill>
            <a:srgbClr val="141B4D"/>
          </a:solidFill>
          <a:ln/>
        </p:spPr>
      </p:sp>
      <p:sp>
        <p:nvSpPr>
          <p:cNvPr id="181" name="Shape 142"/>
          <p:cNvSpPr/>
          <p:nvPr/>
        </p:nvSpPr>
        <p:spPr>
          <a:xfrm>
            <a:off x="566928" y="6181344"/>
            <a:ext cx="365760" cy="365760"/>
          </a:xfrm>
          <a:prstGeom prst="ellipse">
            <a:avLst/>
          </a:prstGeom>
          <a:solidFill>
            <a:srgbClr val="0E9384"/>
          </a:solidFill>
          <a:ln/>
        </p:spPr>
      </p:sp>
      <p:pic>
        <p:nvPicPr>
          <p:cNvPr id="182" name="Image 35" descr="ic_link.png">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647395" y="6261811"/>
            <a:ext cx="204826" cy="204826"/>
          </a:xfrm>
          <a:prstGeom prst="rect">
            <a:avLst/>
          </a:prstGeom>
        </p:spPr>
      </p:pic>
      <p:sp>
        <p:nvSpPr>
          <p:cNvPr id="183" name="Text 143"/>
          <p:cNvSpPr/>
          <p:nvPr/>
        </p:nvSpPr>
        <p:spPr>
          <a:xfrm>
            <a:off x="1069848" y="6053328"/>
            <a:ext cx="7863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LINK   </a:t>
            </a:r>
            <a:pPr indent="0" marL="0">
              <a:buNone/>
            </a:pPr>
            <a:r>
              <a:rPr lang="en-US" sz="1150" dirty="0">
                <a:solidFill>
                  <a:srgbClr val="B8C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github.com/WaelMAbbas/Hr-Data-Analysis</a:t>
            </a:r>
            <a:endParaRPr lang="en-US" sz="1300" dirty="0"/>
          </a:p>
        </p:txBody>
      </p:sp>
      <p:sp>
        <p:nvSpPr>
          <p:cNvPr id="184" name="Shape 144"/>
          <p:cNvSpPr/>
          <p:nvPr/>
        </p:nvSpPr>
        <p:spPr>
          <a:xfrm>
            <a:off x="11204143" y="6117336"/>
            <a:ext cx="493776" cy="493776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</p:spPr>
      </p:sp>
      <p:pic>
        <p:nvPicPr>
          <p:cNvPr id="185" name="Image 36" descr="qr_repo.png">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11245291" y="6158484"/>
            <a:ext cx="411480" cy="4114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2026-08-05T17:22:40Z</dcterms:created>
  <dcterms:modified xsi:type="dcterms:W3CDTF">2026-08-05T17:22:40Z</dcterms:modified>
</cp:coreProperties>
</file>