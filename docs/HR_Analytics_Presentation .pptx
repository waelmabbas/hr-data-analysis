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2" r:id="rId2"/>
    <p:sldId id="257" r:id="rId3"/>
    <p:sldId id="267" r:id="rId4"/>
    <p:sldId id="268" r:id="rId5"/>
    <p:sldId id="269" r:id="rId6"/>
    <p:sldId id="270" r:id="rId7"/>
    <p:sldId id="271" r:id="rId8"/>
    <p:sldId id="259" r:id="rId9"/>
    <p:sldId id="260" r:id="rId10"/>
    <p:sldId id="262" r:id="rId11"/>
    <p:sldId id="261" r:id="rId12"/>
    <p:sldId id="273" r:id="rId13"/>
    <p:sldId id="274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6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EF2F7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EEF2F7"/>
                </a:solidFill>
                <a:latin typeface="Arial"/>
              </a:rPr>
              <a:t>Headcount by Dept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Dept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71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3D7-4496-8950-F29F61D856B2}"/>
              </c:ext>
            </c:extLst>
          </c:dPt>
          <c:dPt>
            <c:idx val="1"/>
            <c:bubble3D val="0"/>
            <c:spPr>
              <a:solidFill>
                <a:srgbClr val="F4A2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3D7-4496-8950-F29F61D856B2}"/>
              </c:ext>
            </c:extLst>
          </c:dPt>
          <c:dPt>
            <c:idx val="2"/>
            <c:bubble3D val="0"/>
            <c:spPr>
              <a:solidFill>
                <a:srgbClr val="6B4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3D7-4496-8950-F29F61D856B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D7-4496-8950-F29F61D856B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3D7-4496-8950-F29F61D856B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D7-4496-8950-F29F61D856B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R&amp;D</c:v>
                </c:pt>
                <c:pt idx="1">
                  <c:v>Sales</c:v>
                </c:pt>
                <c:pt idx="2">
                  <c:v>HR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961</c:v>
                </c:pt>
                <c:pt idx="1">
                  <c:v>446</c:v>
                </c:pt>
                <c:pt idx="2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3D7-4496-8950-F29F61D856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EF2F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EF2F7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EEF2F7"/>
                </a:solidFill>
                <a:latin typeface="Arial"/>
              </a:rPr>
              <a:t>Attrition Rate % by Department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%</c:v>
                </c:pt>
              </c:strCache>
            </c:strRef>
          </c:tx>
          <c:spPr>
            <a:solidFill>
              <a:srgbClr val="6B46C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11-44DB-95DB-67B10900D744}"/>
              </c:ext>
            </c:extLst>
          </c:dPt>
          <c:dPt>
            <c:idx val="1"/>
            <c:invertIfNegative val="0"/>
            <c:bubble3D val="0"/>
            <c:spPr>
              <a:solidFill>
                <a:srgbClr val="F4A2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11-44DB-95DB-67B10900D744}"/>
              </c:ext>
            </c:extLst>
          </c:dPt>
          <c:dPt>
            <c:idx val="2"/>
            <c:invertIfNegative val="0"/>
            <c:bubble3D val="0"/>
            <c:spPr>
              <a:solidFill>
                <a:srgbClr val="0F71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11-44DB-95DB-67B10900D74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EEF2F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Human Resources</c:v>
                </c:pt>
                <c:pt idx="1">
                  <c:v>Sales</c:v>
                </c:pt>
                <c:pt idx="2">
                  <c:v>R&amp;D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20.6</c:v>
                </c:pt>
                <c:pt idx="2">
                  <c:v>13.8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511-44DB-95DB-67B10900D7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EF2F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4365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EF2F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633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C7E75-BB53-BC74-224D-85035C3FB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675F6-034F-ED75-8F01-4C1ECA8C3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68440-5F3C-86C8-1906-CE9EEC159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2AAED-AED5-B4DC-ECFE-EF9ED85A48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604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2.png"/><Relationship Id="rId5" Type="http://schemas.openxmlformats.org/officeDocument/2006/relationships/image" Target="../media/image9.png"/><Relationship Id="rId10" Type="http://schemas.openxmlformats.org/officeDocument/2006/relationships/image" Target="../media/image1.jpe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.png"/><Relationship Id="rId4" Type="http://schemas.openxmlformats.org/officeDocument/2006/relationships/image" Target="../media/image15.png"/><Relationship Id="rId9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2.png"/><Relationship Id="rId5" Type="http://schemas.openxmlformats.org/officeDocument/2006/relationships/image" Target="../media/image3.png"/><Relationship Id="rId10" Type="http://schemas.openxmlformats.org/officeDocument/2006/relationships/image" Target="../media/image1.jpeg"/><Relationship Id="rId4" Type="http://schemas.openxmlformats.org/officeDocument/2006/relationships/image" Target="../media/image25.png"/><Relationship Id="rId9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82"/>
          <p:cNvSpPr/>
          <p:nvPr/>
        </p:nvSpPr>
        <p:spPr>
          <a:xfrm>
            <a:off x="274320" y="502920"/>
            <a:ext cx="594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0" b="1" i="0" u="none" strike="noStrike" kern="1200" cap="none" spc="0" normalizeH="0" baseline="0" noProof="0" dirty="0">
                <a:ln>
                  <a:noFill/>
                </a:ln>
                <a:solidFill>
                  <a:srgbClr val="243656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HR</a:t>
            </a:r>
            <a:endParaRPr kumimoji="0" lang="en-US" sz="2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0226650" y="716890"/>
            <a:ext cx="1126541" cy="1126541"/>
          </a:xfrm>
          <a:prstGeom prst="ellipse">
            <a:avLst/>
          </a:prstGeom>
          <a:solidFill>
            <a:srgbClr val="6B46C1">
              <a:alpha val="10000"/>
            </a:srgbClr>
          </a:solidFill>
          <a:ln w="12700">
            <a:solidFill>
              <a:srgbClr val="6B46C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flipV="1">
            <a:off x="8516554" y="2321636"/>
            <a:ext cx="882540" cy="762359"/>
          </a:xfrm>
          <a:prstGeom prst="line">
            <a:avLst/>
          </a:prstGeom>
          <a:noFill/>
          <a:ln w="19050">
            <a:solidFill>
              <a:srgbClr val="16A5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85991" y="3057266"/>
            <a:ext cx="0" cy="0"/>
          </a:xfrm>
          <a:prstGeom prst="line">
            <a:avLst/>
          </a:prstGeom>
          <a:noFill/>
          <a:ln w="15240">
            <a:solidFill>
              <a:srgbClr val="0F717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95762" y="2920186"/>
            <a:ext cx="181746" cy="0"/>
          </a:xfrm>
          <a:prstGeom prst="line">
            <a:avLst/>
          </a:prstGeom>
          <a:noFill/>
          <a:ln w="15240">
            <a:solidFill>
              <a:srgbClr val="0F717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12099" y="3622884"/>
            <a:ext cx="2272758" cy="929765"/>
          </a:xfrm>
          <a:prstGeom prst="line">
            <a:avLst/>
          </a:prstGeom>
          <a:noFill/>
          <a:ln w="12700">
            <a:solidFill>
              <a:srgbClr val="38A16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390402" y="3874627"/>
            <a:ext cx="975220" cy="1722889"/>
          </a:xfrm>
          <a:prstGeom prst="line">
            <a:avLst/>
          </a:prstGeom>
          <a:noFill/>
          <a:ln w="12700">
            <a:solidFill>
              <a:srgbClr val="38A16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7291424" y="3904439"/>
            <a:ext cx="656559" cy="1722889"/>
          </a:xfrm>
          <a:prstGeom prst="line">
            <a:avLst/>
          </a:prstGeom>
          <a:noFill/>
          <a:ln w="12700">
            <a:solidFill>
              <a:srgbClr val="D53F8C">
                <a:alpha val="5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>
            <a:off x="6137378" y="3680045"/>
            <a:ext cx="1554480" cy="901050"/>
          </a:xfrm>
          <a:prstGeom prst="line">
            <a:avLst/>
          </a:prstGeom>
          <a:noFill/>
          <a:ln w="12700">
            <a:solidFill>
              <a:srgbClr val="90CD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26096" y="3429000"/>
            <a:ext cx="0" cy="0"/>
          </a:xfrm>
          <a:prstGeom prst="line">
            <a:avLst/>
          </a:prstGeom>
          <a:noFill/>
          <a:ln w="10160">
            <a:solidFill>
              <a:srgbClr val="0F717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H="1">
            <a:off x="7576719" y="3904439"/>
            <a:ext cx="371265" cy="950976"/>
          </a:xfrm>
          <a:prstGeom prst="line">
            <a:avLst/>
          </a:prstGeom>
          <a:noFill/>
          <a:ln w="10160">
            <a:solidFill>
              <a:srgbClr val="6B46C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390656" y="1774407"/>
            <a:ext cx="0" cy="0"/>
          </a:xfrm>
          <a:prstGeom prst="line">
            <a:avLst/>
          </a:prstGeom>
          <a:noFill/>
          <a:ln w="12700">
            <a:solidFill>
              <a:srgbClr val="0F717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flipV="1">
            <a:off x="10012186" y="1536192"/>
            <a:ext cx="558277" cy="262456"/>
          </a:xfrm>
          <a:prstGeom prst="line">
            <a:avLst/>
          </a:prstGeom>
          <a:noFill/>
          <a:ln w="15240">
            <a:solidFill>
              <a:srgbClr val="6B46C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032491" y="2190549"/>
            <a:ext cx="1138575" cy="599250"/>
          </a:xfrm>
          <a:prstGeom prst="line">
            <a:avLst/>
          </a:prstGeom>
          <a:noFill/>
          <a:ln w="15240">
            <a:solidFill>
              <a:srgbClr val="6B46C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878165" y="2347944"/>
            <a:ext cx="1136163" cy="2059295"/>
          </a:xfrm>
          <a:prstGeom prst="line">
            <a:avLst/>
          </a:prstGeom>
          <a:noFill/>
          <a:ln w="10160">
            <a:solidFill>
              <a:srgbClr val="38A16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H="1">
            <a:off x="9394471" y="2388874"/>
            <a:ext cx="225940" cy="1561333"/>
          </a:xfrm>
          <a:prstGeom prst="line">
            <a:avLst/>
          </a:prstGeom>
          <a:noFill/>
          <a:ln w="10160">
            <a:solidFill>
              <a:srgbClr val="16A5A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883181" y="2345127"/>
            <a:ext cx="75412" cy="131970"/>
          </a:xfrm>
          <a:prstGeom prst="line">
            <a:avLst/>
          </a:prstGeom>
          <a:noFill/>
          <a:ln w="10160">
            <a:solidFill>
              <a:srgbClr val="F4A21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80127" y="1788457"/>
            <a:ext cx="0" cy="0"/>
          </a:xfrm>
          <a:prstGeom prst="line">
            <a:avLst/>
          </a:prstGeom>
          <a:noFill/>
          <a:ln w="8890">
            <a:solidFill>
              <a:srgbClr val="D53F8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835272" y="2368260"/>
            <a:ext cx="520968" cy="1302421"/>
          </a:xfrm>
          <a:prstGeom prst="line">
            <a:avLst/>
          </a:prstGeom>
          <a:noFill/>
          <a:ln w="8890">
            <a:solidFill>
              <a:srgbClr val="38A16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H="1">
            <a:off x="5998464" y="1997370"/>
            <a:ext cx="437334" cy="2447372"/>
          </a:xfrm>
          <a:prstGeom prst="line">
            <a:avLst/>
          </a:prstGeom>
          <a:noFill/>
          <a:ln w="8890">
            <a:solidFill>
              <a:srgbClr val="90CDF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21327" y="1041476"/>
            <a:ext cx="1777914" cy="205144"/>
          </a:xfrm>
          <a:prstGeom prst="line">
            <a:avLst/>
          </a:prstGeom>
          <a:noFill/>
          <a:ln w="8890">
            <a:solidFill>
              <a:srgbClr val="6B46C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143074" y="2868695"/>
            <a:ext cx="0" cy="0"/>
          </a:xfrm>
          <a:prstGeom prst="line">
            <a:avLst/>
          </a:prstGeom>
          <a:noFill/>
          <a:ln w="7620">
            <a:solidFill>
              <a:srgbClr val="F4A21E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961282" y="4444742"/>
            <a:ext cx="0" cy="0"/>
          </a:xfrm>
          <a:prstGeom prst="line">
            <a:avLst/>
          </a:prstGeom>
          <a:noFill/>
          <a:ln w="7620">
            <a:solidFill>
              <a:srgbClr val="38A169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217368" y="5863406"/>
            <a:ext cx="0" cy="68948"/>
          </a:xfrm>
          <a:prstGeom prst="line">
            <a:avLst/>
          </a:prstGeom>
          <a:noFill/>
          <a:ln w="7620">
            <a:solidFill>
              <a:srgbClr val="D53F8C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92086" y="2382926"/>
            <a:ext cx="2092147" cy="2092147"/>
          </a:xfrm>
          <a:prstGeom prst="ellipse">
            <a:avLst/>
          </a:prstGeom>
          <a:solidFill>
            <a:srgbClr val="F4A21E">
              <a:alpha val="10000"/>
            </a:srgbClr>
          </a:solidFill>
          <a:ln w="12700">
            <a:solidFill>
              <a:srgbClr val="F4A2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928202" y="1247242"/>
            <a:ext cx="1528877" cy="1528877"/>
          </a:xfrm>
          <a:prstGeom prst="ellipse">
            <a:avLst/>
          </a:prstGeom>
          <a:solidFill>
            <a:srgbClr val="16A5A8">
              <a:alpha val="10000"/>
            </a:srgbClr>
          </a:solidFill>
          <a:ln w="12700">
            <a:solidFill>
              <a:srgbClr val="16A5A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888736" y="1088136"/>
            <a:ext cx="1207008" cy="1207008"/>
          </a:xfrm>
          <a:prstGeom prst="ellipse">
            <a:avLst/>
          </a:prstGeom>
          <a:solidFill>
            <a:srgbClr val="0F7173">
              <a:alpha val="10000"/>
            </a:srgbClr>
          </a:solidFill>
          <a:ln w="12700">
            <a:solidFill>
              <a:srgbClr val="0F7173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808976" y="402336"/>
            <a:ext cx="1207008" cy="1207008"/>
          </a:xfrm>
          <a:prstGeom prst="ellipse">
            <a:avLst/>
          </a:prstGeom>
          <a:solidFill>
            <a:srgbClr val="0F7173">
              <a:alpha val="10000"/>
            </a:srgbClr>
          </a:solidFill>
          <a:ln w="12700">
            <a:solidFill>
              <a:srgbClr val="0F7173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866730" y="2362810"/>
            <a:ext cx="1126541" cy="1126541"/>
          </a:xfrm>
          <a:prstGeom prst="ellipse">
            <a:avLst/>
          </a:prstGeom>
          <a:solidFill>
            <a:srgbClr val="6B46C1">
              <a:alpha val="10000"/>
            </a:srgbClr>
          </a:solidFill>
          <a:ln w="12700">
            <a:solidFill>
              <a:srgbClr val="6B46C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592410" y="4100170"/>
            <a:ext cx="1126541" cy="1126541"/>
          </a:xfrm>
          <a:prstGeom prst="ellipse">
            <a:avLst/>
          </a:prstGeom>
          <a:solidFill>
            <a:srgbClr val="38A169">
              <a:alpha val="10000"/>
            </a:srgbClr>
          </a:solidFill>
          <a:ln w="12700">
            <a:solidFill>
              <a:srgbClr val="38A169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946490" y="5288890"/>
            <a:ext cx="1126541" cy="1126541"/>
          </a:xfrm>
          <a:prstGeom prst="ellipse">
            <a:avLst/>
          </a:prstGeom>
          <a:solidFill>
            <a:srgbClr val="38A169">
              <a:alpha val="10000"/>
            </a:srgbClr>
          </a:solidFill>
          <a:ln w="12700">
            <a:solidFill>
              <a:srgbClr val="38A169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569050" y="5380330"/>
            <a:ext cx="1126541" cy="1126541"/>
          </a:xfrm>
          <a:prstGeom prst="ellipse">
            <a:avLst/>
          </a:prstGeom>
          <a:solidFill>
            <a:srgbClr val="D53F8C">
              <a:alpha val="10000"/>
            </a:srgbClr>
          </a:solidFill>
          <a:ln w="12700">
            <a:solidFill>
              <a:srgbClr val="D53F8C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607808" y="2898648"/>
            <a:ext cx="1060704" cy="1060704"/>
          </a:xfrm>
          <a:prstGeom prst="ellipse">
            <a:avLst/>
          </a:prstGeom>
          <a:solidFill>
            <a:srgbClr val="F4A21E">
              <a:alpha val="30000"/>
            </a:srgbClr>
          </a:solidFill>
          <a:ln w="15240">
            <a:solidFill>
              <a:srgbClr val="F4A21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662672" y="2953512"/>
            <a:ext cx="950976" cy="950976"/>
          </a:xfrm>
          <a:prstGeom prst="ellipse">
            <a:avLst/>
          </a:prstGeom>
          <a:solidFill>
            <a:srgbClr val="F4A21E"/>
          </a:solidFill>
          <a:ln w="635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543800" y="39502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Employee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290304" y="1609344"/>
            <a:ext cx="804672" cy="804672"/>
          </a:xfrm>
          <a:prstGeom prst="ellipse">
            <a:avLst/>
          </a:prstGeom>
          <a:solidFill>
            <a:srgbClr val="16A5A8">
              <a:alpha val="30000"/>
            </a:srgbClr>
          </a:solidFill>
          <a:ln w="15240">
            <a:solidFill>
              <a:srgbClr val="16A5A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345168" y="1664208"/>
            <a:ext cx="694944" cy="694944"/>
          </a:xfrm>
          <a:prstGeom prst="ellipse">
            <a:avLst/>
          </a:prstGeom>
          <a:solidFill>
            <a:srgbClr val="16A5A8">
              <a:alpha val="80000"/>
            </a:srgbClr>
          </a:solidFill>
          <a:ln w="6350">
            <a:solidFill>
              <a:srgbClr val="16A5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09828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Performance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Rating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163056" y="1362456"/>
            <a:ext cx="658368" cy="658368"/>
          </a:xfrm>
          <a:prstGeom prst="ellipse">
            <a:avLst/>
          </a:prstGeom>
          <a:solidFill>
            <a:srgbClr val="0F7173">
              <a:alpha val="30000"/>
            </a:srgbClr>
          </a:solidFill>
          <a:ln w="15240">
            <a:solidFill>
              <a:srgbClr val="0F717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217920" y="1417320"/>
            <a:ext cx="548640" cy="548640"/>
          </a:xfrm>
          <a:prstGeom prst="ellipse">
            <a:avLst/>
          </a:prstGeom>
          <a:solidFill>
            <a:srgbClr val="0F7173">
              <a:alpha val="80000"/>
            </a:srgbClr>
          </a:solidFill>
          <a:ln w="635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897880" y="2011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HireDate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083296" y="676656"/>
            <a:ext cx="658368" cy="658368"/>
          </a:xfrm>
          <a:prstGeom prst="ellipse">
            <a:avLst/>
          </a:prstGeom>
          <a:solidFill>
            <a:srgbClr val="0F7173">
              <a:alpha val="30000"/>
            </a:srgbClr>
          </a:solidFill>
          <a:ln w="15240">
            <a:solidFill>
              <a:srgbClr val="0F717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138160" y="731520"/>
            <a:ext cx="548640" cy="548640"/>
          </a:xfrm>
          <a:prstGeom prst="ellipse">
            <a:avLst/>
          </a:prstGeom>
          <a:solidFill>
            <a:srgbClr val="0F7173">
              <a:alpha val="80000"/>
            </a:srgbClr>
          </a:solidFill>
          <a:ln w="635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818120" y="1325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ReviewDate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0479024" y="969264"/>
            <a:ext cx="621792" cy="621792"/>
          </a:xfrm>
          <a:prstGeom prst="ellipse">
            <a:avLst/>
          </a:prstGeom>
          <a:solidFill>
            <a:srgbClr val="6B46C1">
              <a:alpha val="30000"/>
            </a:srgbClr>
          </a:solidFill>
          <a:ln w="10160">
            <a:solidFill>
              <a:srgbClr val="6B46C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0533888" y="1024128"/>
            <a:ext cx="512064" cy="512064"/>
          </a:xfrm>
          <a:prstGeom prst="ellipse">
            <a:avLst/>
          </a:prstGeom>
          <a:solidFill>
            <a:srgbClr val="6B46C1">
              <a:alpha val="80000"/>
            </a:srgbClr>
          </a:solidFill>
          <a:ln w="635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195560" y="15819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RatingLevel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1119104" y="2615184"/>
            <a:ext cx="621792" cy="621792"/>
          </a:xfrm>
          <a:prstGeom prst="ellipse">
            <a:avLst/>
          </a:prstGeom>
          <a:solidFill>
            <a:srgbClr val="6B46C1">
              <a:alpha val="30000"/>
            </a:srgbClr>
          </a:solidFill>
          <a:ln w="10160">
            <a:solidFill>
              <a:srgbClr val="6B46C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173968" y="2670048"/>
            <a:ext cx="512064" cy="512064"/>
          </a:xfrm>
          <a:prstGeom prst="ellipse">
            <a:avLst/>
          </a:prstGeom>
          <a:solidFill>
            <a:srgbClr val="6B46C1">
              <a:alpha val="80000"/>
            </a:srgbClr>
          </a:solidFill>
          <a:ln w="635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835640" y="32278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SatisfiedLevel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0844784" y="4352544"/>
            <a:ext cx="621792" cy="621792"/>
          </a:xfrm>
          <a:prstGeom prst="ellipse">
            <a:avLst/>
          </a:prstGeom>
          <a:solidFill>
            <a:srgbClr val="38A169">
              <a:alpha val="30000"/>
            </a:srgbClr>
          </a:solidFill>
          <a:ln w="10160">
            <a:solidFill>
              <a:srgbClr val="38A16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0899648" y="4407408"/>
            <a:ext cx="512064" cy="512064"/>
          </a:xfrm>
          <a:prstGeom prst="ellipse">
            <a:avLst/>
          </a:prstGeom>
          <a:solidFill>
            <a:srgbClr val="38A169">
              <a:alpha val="80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05613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WorkLife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Balance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9198864" y="5541264"/>
            <a:ext cx="621792" cy="621792"/>
          </a:xfrm>
          <a:prstGeom prst="ellipse">
            <a:avLst/>
          </a:prstGeom>
          <a:solidFill>
            <a:srgbClr val="38A169">
              <a:alpha val="30000"/>
            </a:srgbClr>
          </a:solidFill>
          <a:ln w="10160">
            <a:solidFill>
              <a:srgbClr val="38A16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253728" y="5596128"/>
            <a:ext cx="512064" cy="512064"/>
          </a:xfrm>
          <a:prstGeom prst="ellipse">
            <a:avLst/>
          </a:prstGeom>
          <a:solidFill>
            <a:srgbClr val="38A169">
              <a:alpha val="80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915400" y="61539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Education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Level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821424" y="5632704"/>
            <a:ext cx="621792" cy="621792"/>
          </a:xfrm>
          <a:prstGeom prst="ellipse">
            <a:avLst/>
          </a:prstGeom>
          <a:solidFill>
            <a:srgbClr val="D53F8C">
              <a:alpha val="30000"/>
            </a:srgbClr>
          </a:solidFill>
          <a:ln w="10160">
            <a:solidFill>
              <a:srgbClr val="D53F8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876288" y="5687568"/>
            <a:ext cx="512064" cy="512064"/>
          </a:xfrm>
          <a:prstGeom prst="ellipse">
            <a:avLst/>
          </a:prstGeom>
          <a:solidFill>
            <a:srgbClr val="D53F8C">
              <a:alpha val="80000"/>
            </a:srgbClr>
          </a:solidFill>
          <a:ln w="6350">
            <a:solidFill>
              <a:srgbClr val="D53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537960" y="62453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TheMeasures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650992" y="4370832"/>
            <a:ext cx="585216" cy="585216"/>
          </a:xfrm>
          <a:prstGeom prst="ellipse">
            <a:avLst/>
          </a:prstGeom>
          <a:solidFill>
            <a:srgbClr val="90CDF4">
              <a:alpha val="30000"/>
            </a:srgbClr>
          </a:solidFill>
          <a:ln w="10160">
            <a:solidFill>
              <a:srgbClr val="90CDF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705856" y="4425696"/>
            <a:ext cx="475488" cy="475488"/>
          </a:xfrm>
          <a:prstGeom prst="ellipse">
            <a:avLst/>
          </a:prstGeom>
          <a:solidFill>
            <a:srgbClr val="90CDF4">
              <a:alpha val="80000"/>
            </a:srgbClr>
          </a:solidFill>
          <a:ln w="6350">
            <a:solidFill>
              <a:srgbClr val="90C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349240" y="49469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Attrition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Rate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6419088" y="3172968"/>
            <a:ext cx="512064" cy="512064"/>
          </a:xfrm>
          <a:prstGeom prst="ellipse">
            <a:avLst/>
          </a:prstGeom>
          <a:solidFill>
            <a:srgbClr val="0F7173">
              <a:alpha val="30000"/>
            </a:srgbClr>
          </a:solidFill>
          <a:ln w="10160">
            <a:solidFill>
              <a:srgbClr val="0F717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025128" y="3904488"/>
            <a:ext cx="512064" cy="512064"/>
          </a:xfrm>
          <a:prstGeom prst="ellipse">
            <a:avLst/>
          </a:prstGeom>
          <a:solidFill>
            <a:srgbClr val="16A5A8">
              <a:alpha val="30000"/>
            </a:srgbClr>
          </a:solidFill>
          <a:ln w="10160">
            <a:solidFill>
              <a:srgbClr val="16A5A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079992" y="3959352"/>
            <a:ext cx="402336" cy="402336"/>
          </a:xfrm>
          <a:prstGeom prst="ellipse">
            <a:avLst/>
          </a:prstGeom>
          <a:solidFill>
            <a:srgbClr val="16A5A8">
              <a:alpha val="80000"/>
            </a:srgbClr>
          </a:solidFill>
          <a:ln w="6350">
            <a:solidFill>
              <a:srgbClr val="16A5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838944" y="2432304"/>
            <a:ext cx="438912" cy="438912"/>
          </a:xfrm>
          <a:prstGeom prst="ellipse">
            <a:avLst/>
          </a:prstGeom>
          <a:solidFill>
            <a:srgbClr val="F4A21E">
              <a:alpha val="30000"/>
            </a:srgbClr>
          </a:solidFill>
          <a:ln w="10160">
            <a:solidFill>
              <a:srgbClr val="F4A21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893808" y="2487168"/>
            <a:ext cx="329184" cy="329184"/>
          </a:xfrm>
          <a:prstGeom prst="ellipse">
            <a:avLst/>
          </a:prstGeom>
          <a:solidFill>
            <a:srgbClr val="F4A21E">
              <a:alpha val="80000"/>
            </a:srgbClr>
          </a:solidFill>
          <a:ln w="635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278624" y="4809744"/>
            <a:ext cx="438912" cy="438912"/>
          </a:xfrm>
          <a:prstGeom prst="ellipse">
            <a:avLst/>
          </a:prstGeom>
          <a:solidFill>
            <a:srgbClr val="6B46C1">
              <a:alpha val="30000"/>
            </a:srgbClr>
          </a:solidFill>
          <a:ln w="10160">
            <a:solidFill>
              <a:srgbClr val="6B46C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7333488" y="4864608"/>
            <a:ext cx="329184" cy="329184"/>
          </a:xfrm>
          <a:prstGeom prst="ellipse">
            <a:avLst/>
          </a:prstGeom>
          <a:solidFill>
            <a:srgbClr val="6B46C1">
              <a:alpha val="80000"/>
            </a:srgbClr>
          </a:solidFill>
          <a:ln w="635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8851392" y="1353312"/>
            <a:ext cx="402336" cy="402336"/>
          </a:xfrm>
          <a:prstGeom prst="ellipse">
            <a:avLst/>
          </a:prstGeom>
          <a:solidFill>
            <a:srgbClr val="D53F8C">
              <a:alpha val="30000"/>
            </a:srgbClr>
          </a:solidFill>
          <a:ln w="10160">
            <a:solidFill>
              <a:srgbClr val="D53F8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8906256" y="1408176"/>
            <a:ext cx="292608" cy="292608"/>
          </a:xfrm>
          <a:prstGeom prst="ellipse">
            <a:avLst/>
          </a:prstGeom>
          <a:solidFill>
            <a:srgbClr val="D53F8C">
              <a:alpha val="80000"/>
            </a:srgbClr>
          </a:solidFill>
          <a:ln w="6350">
            <a:solidFill>
              <a:srgbClr val="D53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0222992" y="3639312"/>
            <a:ext cx="402336" cy="402336"/>
          </a:xfrm>
          <a:prstGeom prst="ellipse">
            <a:avLst/>
          </a:prstGeom>
          <a:solidFill>
            <a:srgbClr val="38A169">
              <a:alpha val="30000"/>
            </a:srgbClr>
          </a:solidFill>
          <a:ln w="10160">
            <a:solidFill>
              <a:srgbClr val="38A16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0277856" y="3694176"/>
            <a:ext cx="292608" cy="292608"/>
          </a:xfrm>
          <a:prstGeom prst="ellipse">
            <a:avLst/>
          </a:prstGeom>
          <a:solidFill>
            <a:srgbClr val="38A169">
              <a:alpha val="80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7360920" y="2651760"/>
            <a:ext cx="1554480" cy="1554480"/>
          </a:xfrm>
          <a:prstGeom prst="ellipse">
            <a:avLst/>
          </a:prstGeom>
          <a:solidFill>
            <a:srgbClr val="F4A21E">
              <a:alpha val="12000"/>
            </a:srgbClr>
          </a:solidFill>
          <a:ln w="12700">
            <a:solidFill>
              <a:srgbClr val="F4A21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618488" y="0"/>
            <a:ext cx="0" cy="685800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734056" y="0"/>
            <a:ext cx="0" cy="685800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3849624" y="0"/>
            <a:ext cx="0" cy="685800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4965192" y="0"/>
            <a:ext cx="0" cy="685800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502920" y="365760"/>
            <a:ext cx="914400" cy="301752"/>
          </a:xfrm>
          <a:prstGeom prst="rect">
            <a:avLst/>
          </a:prstGeom>
          <a:solidFill>
            <a:srgbClr val="0F7173">
              <a:alpha val="80000"/>
            </a:srgbClr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502920" y="36576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</a:t>
            </a:r>
          </a:p>
        </p:txBody>
      </p:sp>
      <p:sp>
        <p:nvSpPr>
          <p:cNvPr id="85" name="Text 83"/>
          <p:cNvSpPr/>
          <p:nvPr/>
        </p:nvSpPr>
        <p:spPr>
          <a:xfrm>
            <a:off x="502920" y="9144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Workforce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502920" y="18288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4A21E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502920" y="27432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502920" y="3886200"/>
            <a:ext cx="3200400" cy="73152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502920" y="406908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Power BI analytics solution exploring workforce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attrition, compensation, performance &amp; diversity.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502920" y="63550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HR Data Analysis  ·  Team of 6  ·  Power BI  ·  2025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97DC37A-6198-4EC5-9958-1287F9BBD4C8}"/>
              </a:ext>
            </a:extLst>
          </p:cNvPr>
          <p:cNvSpPr/>
          <p:nvPr/>
        </p:nvSpPr>
        <p:spPr>
          <a:xfrm flipH="1" flipV="1">
            <a:off x="6710117" y="1975152"/>
            <a:ext cx="1168513" cy="1119226"/>
          </a:xfrm>
          <a:prstGeom prst="line">
            <a:avLst/>
          </a:prstGeom>
          <a:noFill/>
          <a:ln w="12700">
            <a:solidFill>
              <a:srgbClr val="90CD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1">
            <a:extLst>
              <a:ext uri="{FF2B5EF4-FFF2-40B4-BE49-F238E27FC236}">
                <a16:creationId xmlns:a16="http://schemas.microsoft.com/office/drawing/2014/main" id="{20559AC0-455F-4215-99B1-C9DE3ECA9DF1}"/>
              </a:ext>
            </a:extLst>
          </p:cNvPr>
          <p:cNvSpPr/>
          <p:nvPr/>
        </p:nvSpPr>
        <p:spPr>
          <a:xfrm flipV="1">
            <a:off x="6919181" y="3428999"/>
            <a:ext cx="743491" cy="60351"/>
          </a:xfrm>
          <a:prstGeom prst="line">
            <a:avLst/>
          </a:prstGeom>
          <a:noFill/>
          <a:ln w="19050">
            <a:solidFill>
              <a:srgbClr val="16A5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473952" y="3227832"/>
            <a:ext cx="402336" cy="402336"/>
          </a:xfrm>
          <a:prstGeom prst="ellipse">
            <a:avLst/>
          </a:prstGeom>
          <a:solidFill>
            <a:srgbClr val="0F7173">
              <a:alpha val="80000"/>
            </a:srgbClr>
          </a:solidFill>
          <a:ln w="635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6">
            <a:extLst>
              <a:ext uri="{FF2B5EF4-FFF2-40B4-BE49-F238E27FC236}">
                <a16:creationId xmlns:a16="http://schemas.microsoft.com/office/drawing/2014/main" id="{149E39D6-0B30-4FF8-95B5-8E115F8B6558}"/>
              </a:ext>
            </a:extLst>
          </p:cNvPr>
          <p:cNvSpPr/>
          <p:nvPr/>
        </p:nvSpPr>
        <p:spPr>
          <a:xfrm flipH="1" flipV="1">
            <a:off x="9200927" y="1652634"/>
            <a:ext cx="212337" cy="126678"/>
          </a:xfrm>
          <a:prstGeom prst="line">
            <a:avLst/>
          </a:prstGeom>
          <a:noFill/>
          <a:ln w="12700">
            <a:solidFill>
              <a:srgbClr val="D53F8C">
                <a:alpha val="5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1">
            <a:extLst>
              <a:ext uri="{FF2B5EF4-FFF2-40B4-BE49-F238E27FC236}">
                <a16:creationId xmlns:a16="http://schemas.microsoft.com/office/drawing/2014/main" id="{1475A728-34F0-4FE1-9B4A-E857A5E5E306}"/>
              </a:ext>
            </a:extLst>
          </p:cNvPr>
          <p:cNvSpPr/>
          <p:nvPr/>
        </p:nvSpPr>
        <p:spPr>
          <a:xfrm>
            <a:off x="8641080" y="1246620"/>
            <a:ext cx="265176" cy="183074"/>
          </a:xfrm>
          <a:prstGeom prst="line">
            <a:avLst/>
          </a:prstGeom>
          <a:noFill/>
          <a:ln w="19050">
            <a:solidFill>
              <a:srgbClr val="16A5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0B41DF26-45F8-29E6-16A5-C8E6800A1F2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39379" y="42255"/>
            <a:ext cx="856551" cy="787475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DBE2AC1A-7466-3210-42E2-A71494E500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517" b="34580"/>
          <a:stretch>
            <a:fillRect/>
          </a:stretch>
        </p:blipFill>
        <p:spPr>
          <a:xfrm>
            <a:off x="9100087" y="145886"/>
            <a:ext cx="1916625" cy="4795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7173">
              <a:alpha val="12000"/>
            </a:srgbClr>
          </a:solidFill>
          <a:ln w="12700">
            <a:solidFill>
              <a:srgbClr val="0F717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F4A21E">
              <a:alpha val="10000"/>
            </a:srgbClr>
          </a:solidFill>
          <a:ln w="12700">
            <a:solidFill>
              <a:srgbClr val="F4A2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4389120" cy="5486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74320"/>
            <a:ext cx="54864" cy="320040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4A21E"/>
                </a:solidFill>
              </a:rPr>
              <a:t>THE TEAM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685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Group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Members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320040" y="1664208"/>
            <a:ext cx="3749040" cy="658368"/>
          </a:xfrm>
          <a:prstGeom prst="rect">
            <a:avLst/>
          </a:prstGeom>
          <a:solidFill>
            <a:srgbClr val="243656"/>
          </a:solidFill>
          <a:ln w="12700">
            <a:solidFill>
              <a:srgbClr val="F4A21E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1664208"/>
            <a:ext cx="64008" cy="65836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1828800"/>
            <a:ext cx="329184" cy="329184"/>
          </a:xfrm>
          <a:prstGeom prst="ellipse">
            <a:avLst/>
          </a:prstGeom>
          <a:solidFill>
            <a:srgbClr val="F4A21E">
              <a:alpha val="80000"/>
            </a:srgbClr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" y="1719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Wael Mohammed Abbas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0025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6A5A8"/>
                </a:solidFill>
              </a:rPr>
              <a:t>Team Leader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450592"/>
            <a:ext cx="3749040" cy="658368"/>
          </a:xfrm>
          <a:prstGeom prst="rect">
            <a:avLst/>
          </a:prstGeom>
          <a:solidFill>
            <a:srgbClr val="243656"/>
          </a:solidFill>
          <a:ln w="12700">
            <a:solidFill>
              <a:srgbClr val="16A5A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2450592"/>
            <a:ext cx="64008" cy="658368"/>
          </a:xfrm>
          <a:prstGeom prst="rect">
            <a:avLst/>
          </a:prstGeom>
          <a:solidFill>
            <a:srgbClr val="16A5A8"/>
          </a:solidFill>
          <a:ln w="12700">
            <a:solidFill>
              <a:srgbClr val="16A5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2920" y="2615184"/>
            <a:ext cx="329184" cy="329184"/>
          </a:xfrm>
          <a:prstGeom prst="ellipse">
            <a:avLst/>
          </a:prstGeom>
          <a:solidFill>
            <a:srgbClr val="16A5A8">
              <a:alpha val="80000"/>
            </a:srgbClr>
          </a:solidFill>
          <a:ln w="12700">
            <a:solidFill>
              <a:srgbClr val="16A5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2688" y="2505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Ahmed Mamdouh Fawzi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" y="27889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6A5A8"/>
                </a:solidFill>
              </a:rPr>
              <a:t>Satisfaction &amp; File Merge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236976"/>
            <a:ext cx="3749040" cy="658368"/>
          </a:xfrm>
          <a:prstGeom prst="rect">
            <a:avLst/>
          </a:prstGeom>
          <a:solidFill>
            <a:srgbClr val="243656"/>
          </a:solidFill>
          <a:ln w="12700">
            <a:solidFill>
              <a:srgbClr val="90CDF4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" y="3236976"/>
            <a:ext cx="64008" cy="658368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2920" y="3401568"/>
            <a:ext cx="329184" cy="329184"/>
          </a:xfrm>
          <a:prstGeom prst="ellipse">
            <a:avLst/>
          </a:prstGeom>
          <a:solidFill>
            <a:srgbClr val="90CDF4">
              <a:alpha val="80000"/>
            </a:srgbClr>
          </a:solidFill>
          <a:ln w="12700">
            <a:solidFill>
              <a:srgbClr val="90C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32688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Antonious Hani Aziz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3575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6A5A8"/>
                </a:solidFill>
              </a:rPr>
              <a:t>Performance &amp; Ratings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023360"/>
            <a:ext cx="3749040" cy="658368"/>
          </a:xfrm>
          <a:prstGeom prst="rect">
            <a:avLst/>
          </a:prstGeom>
          <a:solidFill>
            <a:srgbClr val="243656"/>
          </a:solidFill>
          <a:ln w="12700">
            <a:solidFill>
              <a:srgbClr val="38A169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0040" y="4023360"/>
            <a:ext cx="64008" cy="65836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02920" y="4187952"/>
            <a:ext cx="329184" cy="329184"/>
          </a:xfrm>
          <a:prstGeom prst="ellipse">
            <a:avLst/>
          </a:prstGeom>
          <a:solidFill>
            <a:srgbClr val="38A169">
              <a:alpha val="80000"/>
            </a:srgbClr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32688" y="40782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Ashraf Nabil Mohamed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32688" y="43616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6A5A8"/>
                </a:solidFill>
              </a:rPr>
              <a:t>Compensation + PPT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4809744"/>
            <a:ext cx="3749040" cy="658368"/>
          </a:xfrm>
          <a:prstGeom prst="rect">
            <a:avLst/>
          </a:prstGeom>
          <a:solidFill>
            <a:srgbClr val="243656"/>
          </a:solidFill>
          <a:ln w="12700">
            <a:solidFill>
              <a:srgbClr val="D53F8C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20040" y="4809744"/>
            <a:ext cx="64008" cy="658368"/>
          </a:xfrm>
          <a:prstGeom prst="rect">
            <a:avLst/>
          </a:prstGeom>
          <a:solidFill>
            <a:srgbClr val="D53F8C"/>
          </a:solidFill>
          <a:ln w="12700">
            <a:solidFill>
              <a:srgbClr val="D53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02920" y="4974336"/>
            <a:ext cx="329184" cy="329184"/>
          </a:xfrm>
          <a:prstGeom prst="ellipse">
            <a:avLst/>
          </a:prstGeom>
          <a:solidFill>
            <a:srgbClr val="D53F8C">
              <a:alpha val="80000"/>
            </a:srgbClr>
          </a:solidFill>
          <a:ln w="12700">
            <a:solidFill>
              <a:srgbClr val="D53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2920" y="4974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32688" y="4864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Gerges Alfy Naseif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32688" y="5148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6A5A8"/>
                </a:solidFill>
              </a:rPr>
              <a:t>Attrition Analysis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" y="5596128"/>
            <a:ext cx="3749040" cy="658368"/>
          </a:xfrm>
          <a:prstGeom prst="rect">
            <a:avLst/>
          </a:prstGeom>
          <a:solidFill>
            <a:srgbClr val="243656"/>
          </a:solidFill>
          <a:ln w="12700">
            <a:solidFill>
              <a:srgbClr val="6B46C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20040" y="5596128"/>
            <a:ext cx="64008" cy="65836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02920" y="5760720"/>
            <a:ext cx="329184" cy="329184"/>
          </a:xfrm>
          <a:prstGeom prst="ellipse">
            <a:avLst/>
          </a:prstGeom>
          <a:solidFill>
            <a:srgbClr val="6B46C1">
              <a:alpha val="80000"/>
            </a:srgbClr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2920" y="5760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32688" y="5650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Omar Khaled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32688" y="59344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6A5A8"/>
                </a:solidFill>
              </a:rPr>
              <a:t>Demographics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54880" y="274320"/>
            <a:ext cx="54864" cy="320040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920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4A21E"/>
                </a:solidFill>
              </a:rPr>
              <a:t>PROJECT OVERVIEW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54880" y="62179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HR Data Analysis</a:t>
            </a:r>
            <a:endParaRPr lang="en-US" sz="3400" dirty="0"/>
          </a:p>
        </p:txBody>
      </p:sp>
      <p:sp>
        <p:nvSpPr>
          <p:cNvPr id="57" name="Text 55"/>
          <p:cNvSpPr/>
          <p:nvPr/>
        </p:nvSpPr>
        <p:spPr>
          <a:xfrm>
            <a:off x="4754880" y="135331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EF2F7"/>
                </a:solidFill>
              </a:rPr>
              <a:t>Exploratory and statistical analysis on IHR data to help organizations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EF2F7"/>
                </a:solidFill>
              </a:rPr>
              <a:t>make informed, data-driven decisions about their workforce.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754880" y="21214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4A21E"/>
                </a:solidFill>
              </a:rPr>
              <a:t>PROJECT GOALS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2487168"/>
            <a:ext cx="3337560" cy="822960"/>
          </a:xfrm>
          <a:prstGeom prst="rect">
            <a:avLst/>
          </a:prstGeom>
          <a:solidFill>
            <a:srgbClr val="243656"/>
          </a:solidFill>
          <a:ln w="12700">
            <a:solidFill>
              <a:srgbClr val="E53E3E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754880" y="2487168"/>
            <a:ext cx="3337560" cy="45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688336"/>
            <a:ext cx="274320" cy="274320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5230368" y="2606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EF2F7"/>
                </a:solidFill>
              </a:rPr>
              <a:t>Identify patterns &amp; root causes of employee attrition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321040" y="2487168"/>
            <a:ext cx="3337560" cy="822960"/>
          </a:xfrm>
          <a:prstGeom prst="rect">
            <a:avLst/>
          </a:prstGeom>
          <a:solidFill>
            <a:srgbClr val="243656"/>
          </a:solidFill>
          <a:ln w="12700">
            <a:solidFill>
              <a:srgbClr val="0F717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8321040" y="2487168"/>
            <a:ext cx="3337560" cy="457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8" y="2688336"/>
            <a:ext cx="274320" cy="274320"/>
          </a:xfrm>
          <a:prstGeom prst="rect">
            <a:avLst/>
          </a:prstGeom>
        </p:spPr>
      </p:pic>
      <p:sp>
        <p:nvSpPr>
          <p:cNvPr id="66" name="Text 62"/>
          <p:cNvSpPr/>
          <p:nvPr/>
        </p:nvSpPr>
        <p:spPr>
          <a:xfrm>
            <a:off x="8796528" y="2606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EF2F7"/>
                </a:solidFill>
              </a:rPr>
              <a:t>Analyze performance &amp; compensation across departments</a:t>
            </a:r>
            <a:endParaRPr lang="en-US" sz="1000" dirty="0"/>
          </a:p>
        </p:txBody>
      </p:sp>
      <p:sp>
        <p:nvSpPr>
          <p:cNvPr id="67" name="Shape 63"/>
          <p:cNvSpPr/>
          <p:nvPr/>
        </p:nvSpPr>
        <p:spPr>
          <a:xfrm>
            <a:off x="4754880" y="3493008"/>
            <a:ext cx="3337560" cy="822960"/>
          </a:xfrm>
          <a:prstGeom prst="rect">
            <a:avLst/>
          </a:prstGeom>
          <a:solidFill>
            <a:srgbClr val="243656"/>
          </a:solidFill>
          <a:ln w="12700">
            <a:solidFill>
              <a:srgbClr val="6B46C1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64"/>
          <p:cNvSpPr/>
          <p:nvPr/>
        </p:nvSpPr>
        <p:spPr>
          <a:xfrm>
            <a:off x="4754880" y="3493008"/>
            <a:ext cx="3337560" cy="4572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694176"/>
            <a:ext cx="274320" cy="274320"/>
          </a:xfrm>
          <a:prstGeom prst="rect">
            <a:avLst/>
          </a:prstGeom>
        </p:spPr>
      </p:pic>
      <p:sp>
        <p:nvSpPr>
          <p:cNvPr id="70" name="Text 65"/>
          <p:cNvSpPr/>
          <p:nvPr/>
        </p:nvSpPr>
        <p:spPr>
          <a:xfrm>
            <a:off x="5230368" y="3611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EF2F7"/>
                </a:solidFill>
              </a:rPr>
              <a:t>Visualize workforce diversity &amp; inclusion metrics</a:t>
            </a:r>
            <a:endParaRPr lang="en-US" sz="1000" dirty="0"/>
          </a:p>
        </p:txBody>
      </p:sp>
      <p:sp>
        <p:nvSpPr>
          <p:cNvPr id="71" name="Shape 66"/>
          <p:cNvSpPr/>
          <p:nvPr/>
        </p:nvSpPr>
        <p:spPr>
          <a:xfrm>
            <a:off x="8321040" y="3493008"/>
            <a:ext cx="3337560" cy="822960"/>
          </a:xfrm>
          <a:prstGeom prst="rect">
            <a:avLst/>
          </a:prstGeom>
          <a:solidFill>
            <a:srgbClr val="243656"/>
          </a:solidFill>
          <a:ln w="12700">
            <a:solidFill>
              <a:srgbClr val="F4A21E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67"/>
          <p:cNvSpPr/>
          <p:nvPr/>
        </p:nvSpPr>
        <p:spPr>
          <a:xfrm>
            <a:off x="8321040" y="3493008"/>
            <a:ext cx="3337560" cy="45720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3694176"/>
            <a:ext cx="274320" cy="274320"/>
          </a:xfrm>
          <a:prstGeom prst="rect">
            <a:avLst/>
          </a:prstGeom>
        </p:spPr>
      </p:pic>
      <p:sp>
        <p:nvSpPr>
          <p:cNvPr id="74" name="Text 68"/>
          <p:cNvSpPr/>
          <p:nvPr/>
        </p:nvSpPr>
        <p:spPr>
          <a:xfrm>
            <a:off x="8796528" y="3611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EF2F7"/>
                </a:solidFill>
              </a:rPr>
              <a:t>Build a foundation for predictive HR modeling</a:t>
            </a:r>
            <a:endParaRPr lang="en-US" sz="1000" dirty="0"/>
          </a:p>
        </p:txBody>
      </p:sp>
      <p:sp>
        <p:nvSpPr>
          <p:cNvPr id="75" name="Text 69"/>
          <p:cNvSpPr/>
          <p:nvPr/>
        </p:nvSpPr>
        <p:spPr>
          <a:xfrm>
            <a:off x="4754880" y="45537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4A21E"/>
                </a:solidFill>
              </a:rPr>
              <a:t>TOOLS &amp; WORKFLOW</a:t>
            </a:r>
            <a:endParaRPr lang="en-US" sz="900" dirty="0"/>
          </a:p>
        </p:txBody>
      </p:sp>
      <p:sp>
        <p:nvSpPr>
          <p:cNvPr id="76" name="Shape 70"/>
          <p:cNvSpPr/>
          <p:nvPr/>
        </p:nvSpPr>
        <p:spPr>
          <a:xfrm>
            <a:off x="4754880" y="4892040"/>
            <a:ext cx="1572768" cy="384048"/>
          </a:xfrm>
          <a:prstGeom prst="rect">
            <a:avLst/>
          </a:prstGeom>
          <a:solidFill>
            <a:srgbClr val="F4A21E">
              <a:alpha val="25000"/>
            </a:srgbClr>
          </a:solidFill>
          <a:ln w="12700">
            <a:solidFill>
              <a:srgbClr val="F4A21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Text 71"/>
          <p:cNvSpPr/>
          <p:nvPr/>
        </p:nvSpPr>
        <p:spPr>
          <a:xfrm>
            <a:off x="4754880" y="4892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BI</a:t>
            </a:r>
            <a:endParaRPr lang="en-US" sz="1100" dirty="0"/>
          </a:p>
        </p:txBody>
      </p:sp>
      <p:sp>
        <p:nvSpPr>
          <p:cNvPr id="78" name="Shape 72"/>
          <p:cNvSpPr/>
          <p:nvPr/>
        </p:nvSpPr>
        <p:spPr>
          <a:xfrm>
            <a:off x="6510528" y="4892040"/>
            <a:ext cx="1572768" cy="384048"/>
          </a:xfrm>
          <a:prstGeom prst="rect">
            <a:avLst/>
          </a:prstGeom>
          <a:solidFill>
            <a:srgbClr val="16A5A8">
              <a:alpha val="25000"/>
            </a:srgbClr>
          </a:solidFill>
          <a:ln w="12700">
            <a:solidFill>
              <a:srgbClr val="16A5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Text 73"/>
          <p:cNvSpPr/>
          <p:nvPr/>
        </p:nvSpPr>
        <p:spPr>
          <a:xfrm>
            <a:off x="6510528" y="4892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80" name="Shape 74"/>
          <p:cNvSpPr/>
          <p:nvPr/>
        </p:nvSpPr>
        <p:spPr>
          <a:xfrm>
            <a:off x="8266176" y="4892040"/>
            <a:ext cx="1572768" cy="384048"/>
          </a:xfrm>
          <a:prstGeom prst="rect">
            <a:avLst/>
          </a:prstGeom>
          <a:solidFill>
            <a:srgbClr val="90CDF4">
              <a:alpha val="25000"/>
            </a:srgbClr>
          </a:solidFill>
          <a:ln w="12700">
            <a:solidFill>
              <a:srgbClr val="90C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1" name="Text 75"/>
          <p:cNvSpPr/>
          <p:nvPr/>
        </p:nvSpPr>
        <p:spPr>
          <a:xfrm>
            <a:off x="8266176" y="4892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</a:t>
            </a:r>
            <a:endParaRPr lang="en-US" sz="1100" dirty="0"/>
          </a:p>
        </p:txBody>
      </p:sp>
      <p:sp>
        <p:nvSpPr>
          <p:cNvPr id="82" name="Shape 76"/>
          <p:cNvSpPr/>
          <p:nvPr/>
        </p:nvSpPr>
        <p:spPr>
          <a:xfrm>
            <a:off x="10021824" y="4892040"/>
            <a:ext cx="1572768" cy="384048"/>
          </a:xfrm>
          <a:prstGeom prst="rect">
            <a:avLst/>
          </a:prstGeom>
          <a:solidFill>
            <a:srgbClr val="D53F8C">
              <a:alpha val="25000"/>
            </a:srgbClr>
          </a:solidFill>
          <a:ln w="12700">
            <a:solidFill>
              <a:srgbClr val="D53F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3" name="Text 77"/>
          <p:cNvSpPr/>
          <p:nvPr/>
        </p:nvSpPr>
        <p:spPr>
          <a:xfrm>
            <a:off x="10021824" y="4892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DAX / TMDL</a:t>
            </a:r>
            <a:endParaRPr lang="en-US" sz="1100" dirty="0"/>
          </a:p>
        </p:txBody>
      </p:sp>
      <p:sp>
        <p:nvSpPr>
          <p:cNvPr id="84" name="Text 78"/>
          <p:cNvSpPr/>
          <p:nvPr/>
        </p:nvSpPr>
        <p:spPr>
          <a:xfrm>
            <a:off x="4754880" y="5577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6A5A8"/>
                </a:solidFill>
              </a:rPr>
              <a:t>github.com/WaelMAbbas/Hr-Data-Analysis</a:t>
            </a:r>
            <a:endParaRPr lang="en-US" sz="1000" dirty="0"/>
          </a:p>
        </p:txBody>
      </p:sp>
      <p:sp>
        <p:nvSpPr>
          <p:cNvPr id="85" name="Text 79"/>
          <p:cNvSpPr/>
          <p:nvPr/>
        </p:nvSpPr>
        <p:spPr>
          <a:xfrm>
            <a:off x="116128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02</a:t>
            </a:r>
            <a:endParaRPr lang="en-US" sz="900" dirty="0"/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5D01DDFC-0246-DF1B-399F-0FF3CAED53FD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39379" y="42255"/>
            <a:ext cx="856551" cy="787475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25CCCBA0-87D5-FDAD-A5A4-57BEA7E7023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30517" b="34580"/>
          <a:stretch>
            <a:fillRect/>
          </a:stretch>
        </p:blipFill>
        <p:spPr>
          <a:xfrm>
            <a:off x="9100087" y="145886"/>
            <a:ext cx="1916625" cy="4795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7173">
              <a:alpha val="12000"/>
            </a:srgbClr>
          </a:solidFill>
          <a:ln w="12700">
            <a:solidFill>
              <a:srgbClr val="0F717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F4A21E">
              <a:alpha val="10000"/>
            </a:srgbClr>
          </a:solidFill>
          <a:ln w="12700">
            <a:solidFill>
              <a:srgbClr val="F4A2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01168"/>
            <a:ext cx="54864" cy="29260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011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300" normalizeH="0" baseline="0" noProof="0" dirty="0">
                <a:ln>
                  <a:noFill/>
                </a:ln>
                <a:solidFill>
                  <a:srgbClr val="F4A2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PROJECT FOUNDATION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53035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Requirements Gathering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we needed to understand before building the dashboard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1755648"/>
            <a:ext cx="3566160" cy="42062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47088"/>
            <a:ext cx="228600" cy="228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0120" y="175564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STAKEHOLDER NEEDS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48640" y="2304288"/>
            <a:ext cx="35661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48640" y="2304288"/>
            <a:ext cx="54864" cy="5669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8368" y="230428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97280" y="23042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 why employees leave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48640" y="2980944"/>
            <a:ext cx="35661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48640" y="2980944"/>
            <a:ext cx="54864" cy="5669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58368" y="298094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097280" y="298094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Identify high-attrition departments &amp; roles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48640" y="3657600"/>
            <a:ext cx="35661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48640" y="3657600"/>
            <a:ext cx="54864" cy="5669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58368" y="36576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097280" y="36576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Monitor overall workforce health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48640" y="4334256"/>
            <a:ext cx="35661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48640" y="4334256"/>
            <a:ext cx="54864" cy="5669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58368" y="433425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097280" y="43342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Compare compensation across roles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548640" y="5010912"/>
            <a:ext cx="35661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548640" y="5010912"/>
            <a:ext cx="54864" cy="5669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58368" y="501091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097280" y="501091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 performance &amp; satisfaction trends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548640" y="5687568"/>
            <a:ext cx="35661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548640" y="5687568"/>
            <a:ext cx="54864" cy="5669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58368" y="56875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1097280" y="5687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Support DEI reporting with diversity data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4315968" y="1755648"/>
            <a:ext cx="3566160" cy="420624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1847088"/>
            <a:ext cx="228600" cy="22860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4727448" y="175564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REQUIREMENTS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4315968" y="2304288"/>
            <a:ext cx="35661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4315968" y="2304288"/>
            <a:ext cx="54864" cy="56692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448056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Employee records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5"/>
          <p:cNvSpPr/>
          <p:nvPr/>
        </p:nvSpPr>
        <p:spPr>
          <a:xfrm>
            <a:off x="4480560" y="25968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1,470 rows, full history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6"/>
          <p:cNvSpPr/>
          <p:nvPr/>
        </p:nvSpPr>
        <p:spPr>
          <a:xfrm>
            <a:off x="4315968" y="2980944"/>
            <a:ext cx="35661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4315968" y="2980944"/>
            <a:ext cx="54864" cy="56692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8"/>
          <p:cNvSpPr/>
          <p:nvPr/>
        </p:nvSpPr>
        <p:spPr>
          <a:xfrm>
            <a:off x="4480560" y="3035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35 attributes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4480560" y="32735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Demographics, job, pay, perf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0"/>
          <p:cNvSpPr/>
          <p:nvPr/>
        </p:nvSpPr>
        <p:spPr>
          <a:xfrm>
            <a:off x="4315968" y="3657600"/>
            <a:ext cx="35661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1"/>
          <p:cNvSpPr/>
          <p:nvPr/>
        </p:nvSpPr>
        <p:spPr>
          <a:xfrm>
            <a:off x="4315968" y="3657600"/>
            <a:ext cx="54864" cy="56692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/>
          <p:nvPr/>
        </p:nvSpPr>
        <p:spPr>
          <a:xfrm>
            <a:off x="4480560" y="37124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Performance ratings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3"/>
          <p:cNvSpPr/>
          <p:nvPr/>
        </p:nvSpPr>
        <p:spPr>
          <a:xfrm>
            <a:off x="4480560" y="39502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Self, manager, overall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4"/>
          <p:cNvSpPr/>
          <p:nvPr/>
        </p:nvSpPr>
        <p:spPr>
          <a:xfrm>
            <a:off x="4315968" y="4334256"/>
            <a:ext cx="35661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4315968" y="4334256"/>
            <a:ext cx="54864" cy="56692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/>
          <p:nvPr/>
        </p:nvSpPr>
        <p:spPr>
          <a:xfrm>
            <a:off x="4480560" y="4389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Satisfaction scores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7"/>
          <p:cNvSpPr/>
          <p:nvPr/>
        </p:nvSpPr>
        <p:spPr>
          <a:xfrm>
            <a:off x="4480560" y="46268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Job, env, relationship, WLB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58"/>
          <p:cNvSpPr/>
          <p:nvPr/>
        </p:nvSpPr>
        <p:spPr>
          <a:xfrm>
            <a:off x="4315968" y="5010912"/>
            <a:ext cx="35661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59"/>
          <p:cNvSpPr/>
          <p:nvPr/>
        </p:nvSpPr>
        <p:spPr>
          <a:xfrm>
            <a:off x="4315968" y="5010912"/>
            <a:ext cx="54864" cy="56692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4480560" y="50657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Date dimensions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1"/>
          <p:cNvSpPr/>
          <p:nvPr/>
        </p:nvSpPr>
        <p:spPr>
          <a:xfrm>
            <a:off x="4480560" y="53035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Hire date &amp; review date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2"/>
          <p:cNvSpPr/>
          <p:nvPr/>
        </p:nvSpPr>
        <p:spPr>
          <a:xfrm>
            <a:off x="4315968" y="5687568"/>
            <a:ext cx="35661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63"/>
          <p:cNvSpPr/>
          <p:nvPr/>
        </p:nvSpPr>
        <p:spPr>
          <a:xfrm>
            <a:off x="4315968" y="5687568"/>
            <a:ext cx="54864" cy="56692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4"/>
          <p:cNvSpPr/>
          <p:nvPr/>
        </p:nvSpPr>
        <p:spPr>
          <a:xfrm>
            <a:off x="4480560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 tables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5"/>
          <p:cNvSpPr/>
          <p:nvPr/>
        </p:nvSpPr>
        <p:spPr>
          <a:xfrm>
            <a:off x="4480560" y="598017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DIM tables for star schema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Shape 66"/>
          <p:cNvSpPr/>
          <p:nvPr/>
        </p:nvSpPr>
        <p:spPr>
          <a:xfrm>
            <a:off x="8074152" y="1755648"/>
            <a:ext cx="3749040" cy="420624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3024" y="1847088"/>
            <a:ext cx="228600" cy="228600"/>
          </a:xfrm>
          <a:prstGeom prst="rect">
            <a:avLst/>
          </a:prstGeom>
        </p:spPr>
      </p:pic>
      <p:sp>
        <p:nvSpPr>
          <p:cNvPr id="72" name="Text 67"/>
          <p:cNvSpPr/>
          <p:nvPr/>
        </p:nvSpPr>
        <p:spPr>
          <a:xfrm>
            <a:off x="8503920" y="175564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DELIVERABLES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68"/>
          <p:cNvSpPr/>
          <p:nvPr/>
        </p:nvSpPr>
        <p:spPr>
          <a:xfrm>
            <a:off x="8074152" y="2304288"/>
            <a:ext cx="374904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6B46C1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69"/>
          <p:cNvSpPr/>
          <p:nvPr/>
        </p:nvSpPr>
        <p:spPr>
          <a:xfrm>
            <a:off x="8074152" y="2304288"/>
            <a:ext cx="54864" cy="56692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2468880"/>
            <a:ext cx="228600" cy="228600"/>
          </a:xfrm>
          <a:prstGeom prst="rect">
            <a:avLst/>
          </a:prstGeom>
        </p:spPr>
      </p:pic>
      <p:sp>
        <p:nvSpPr>
          <p:cNvPr id="76" name="Text 70"/>
          <p:cNvSpPr/>
          <p:nvPr/>
        </p:nvSpPr>
        <p:spPr>
          <a:xfrm>
            <a:off x="8549640" y="230428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10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-page Power BI dashboard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Shape 71"/>
          <p:cNvSpPr/>
          <p:nvPr/>
        </p:nvSpPr>
        <p:spPr>
          <a:xfrm>
            <a:off x="8074152" y="2980944"/>
            <a:ext cx="374904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6B46C1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72"/>
          <p:cNvSpPr/>
          <p:nvPr/>
        </p:nvSpPr>
        <p:spPr>
          <a:xfrm>
            <a:off x="8074152" y="2980944"/>
            <a:ext cx="54864" cy="56692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3145536"/>
            <a:ext cx="228600" cy="228600"/>
          </a:xfrm>
          <a:prstGeom prst="rect">
            <a:avLst/>
          </a:prstGeom>
        </p:spPr>
      </p:pic>
      <p:sp>
        <p:nvSpPr>
          <p:cNvPr id="80" name="Text 73"/>
          <p:cNvSpPr/>
          <p:nvPr/>
        </p:nvSpPr>
        <p:spPr>
          <a:xfrm>
            <a:off x="8549640" y="29809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Star-schema semantic model in TMDL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Shape 74"/>
          <p:cNvSpPr/>
          <p:nvPr/>
        </p:nvSpPr>
        <p:spPr>
          <a:xfrm>
            <a:off x="8074152" y="3657600"/>
            <a:ext cx="374904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6B46C1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2" name="Shape 75"/>
          <p:cNvSpPr/>
          <p:nvPr/>
        </p:nvSpPr>
        <p:spPr>
          <a:xfrm>
            <a:off x="8074152" y="3657600"/>
            <a:ext cx="54864" cy="56692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312" y="3822192"/>
            <a:ext cx="228600" cy="228600"/>
          </a:xfrm>
          <a:prstGeom prst="rect">
            <a:avLst/>
          </a:prstGeom>
        </p:spPr>
      </p:pic>
      <p:sp>
        <p:nvSpPr>
          <p:cNvPr id="84" name="Text 76"/>
          <p:cNvSpPr/>
          <p:nvPr/>
        </p:nvSpPr>
        <p:spPr>
          <a:xfrm>
            <a:off x="8549640" y="36576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interactive visualizations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77"/>
          <p:cNvSpPr/>
          <p:nvPr/>
        </p:nvSpPr>
        <p:spPr>
          <a:xfrm>
            <a:off x="8074152" y="4334256"/>
            <a:ext cx="374904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6B46C1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Shape 78"/>
          <p:cNvSpPr/>
          <p:nvPr/>
        </p:nvSpPr>
        <p:spPr>
          <a:xfrm>
            <a:off x="8074152" y="4334256"/>
            <a:ext cx="54864" cy="56692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1312" y="4498848"/>
            <a:ext cx="228600" cy="228600"/>
          </a:xfrm>
          <a:prstGeom prst="rect">
            <a:avLst/>
          </a:prstGeom>
        </p:spPr>
      </p:pic>
      <p:sp>
        <p:nvSpPr>
          <p:cNvPr id="88" name="Text 79"/>
          <p:cNvSpPr/>
          <p:nvPr/>
        </p:nvSpPr>
        <p:spPr>
          <a:xfrm>
            <a:off x="8549640" y="433425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Word document narrative report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Shape 80"/>
          <p:cNvSpPr/>
          <p:nvPr/>
        </p:nvSpPr>
        <p:spPr>
          <a:xfrm>
            <a:off x="8074152" y="5010912"/>
            <a:ext cx="374904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6B46C1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Shape 81"/>
          <p:cNvSpPr/>
          <p:nvPr/>
        </p:nvSpPr>
        <p:spPr>
          <a:xfrm>
            <a:off x="8074152" y="5010912"/>
            <a:ext cx="54864" cy="56692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1312" y="5175504"/>
            <a:ext cx="228600" cy="228600"/>
          </a:xfrm>
          <a:prstGeom prst="rect">
            <a:avLst/>
          </a:prstGeom>
        </p:spPr>
      </p:pic>
      <p:sp>
        <p:nvSpPr>
          <p:cNvPr id="92" name="Text 82"/>
          <p:cNvSpPr/>
          <p:nvPr/>
        </p:nvSpPr>
        <p:spPr>
          <a:xfrm>
            <a:off x="8549640" y="501091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PowerPoint presentation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Shape 83"/>
          <p:cNvSpPr/>
          <p:nvPr/>
        </p:nvSpPr>
        <p:spPr>
          <a:xfrm>
            <a:off x="8074152" y="5687568"/>
            <a:ext cx="374904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6B46C1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4" name="Shape 84"/>
          <p:cNvSpPr/>
          <p:nvPr/>
        </p:nvSpPr>
        <p:spPr>
          <a:xfrm>
            <a:off x="8074152" y="5687568"/>
            <a:ext cx="54864" cy="56692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1312" y="5852160"/>
            <a:ext cx="228600" cy="228600"/>
          </a:xfrm>
          <a:prstGeom prst="rect">
            <a:avLst/>
          </a:prstGeom>
        </p:spPr>
      </p:pic>
      <p:sp>
        <p:nvSpPr>
          <p:cNvPr id="96" name="Text 85"/>
          <p:cNvSpPr/>
          <p:nvPr/>
        </p:nvSpPr>
        <p:spPr>
          <a:xfrm>
            <a:off x="8549640" y="568756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GitHub repository with full history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Text 86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4E183570-4084-ADC4-590E-C446DCAD5C67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39379" y="42255"/>
            <a:ext cx="856551" cy="787475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57F93FAF-E889-DFB8-F75B-A59A957B52F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30517" b="34580"/>
          <a:stretch>
            <a:fillRect/>
          </a:stretch>
        </p:blipFill>
        <p:spPr>
          <a:xfrm>
            <a:off x="9100087" y="145886"/>
            <a:ext cx="1916625" cy="4795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7173">
              <a:alpha val="12000"/>
            </a:srgbClr>
          </a:solidFill>
          <a:ln w="12700">
            <a:solidFill>
              <a:srgbClr val="0F717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F4A21E">
              <a:alpha val="10000"/>
            </a:srgbClr>
          </a:solidFill>
          <a:ln w="12700">
            <a:solidFill>
              <a:srgbClr val="F4A2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01168"/>
            <a:ext cx="54864" cy="29260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011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300" normalizeH="0" baseline="0" noProof="0" dirty="0">
                <a:ln>
                  <a:noFill/>
                </a:ln>
                <a:solidFill>
                  <a:srgbClr val="F4A2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ANALYTICAL FRAMEWORK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53035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 to Be Answered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core HR business questions driving every dashboard page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1783080"/>
            <a:ext cx="5623560" cy="1444752"/>
          </a:xfrm>
          <a:prstGeom prst="rect">
            <a:avLst/>
          </a:prstGeom>
          <a:solidFill>
            <a:srgbClr val="1B2A4A"/>
          </a:solidFill>
          <a:ln w="12700">
            <a:solidFill>
              <a:srgbClr val="E53E3E">
                <a:alpha val="65000"/>
              </a:srgbClr>
            </a:solidFill>
            <a:prstDash val="solid"/>
          </a:ln>
          <a:effectLst>
            <a:outerShdw blurRad="177800" dist="63500" dir="8100000" algn="bl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1783080"/>
            <a:ext cx="562356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" y="1947672"/>
            <a:ext cx="475488" cy="475488"/>
          </a:xfrm>
          <a:prstGeom prst="ellipse">
            <a:avLst/>
          </a:prstGeom>
          <a:solidFill>
            <a:srgbClr val="E53E3E">
              <a:alpha val="80000"/>
            </a:srgbClr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11680"/>
            <a:ext cx="338328" cy="338328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280160" y="1874520"/>
            <a:ext cx="1280160" cy="237744"/>
          </a:xfrm>
          <a:prstGeom prst="rect">
            <a:avLst/>
          </a:prstGeom>
          <a:solidFill>
            <a:srgbClr val="E53E3E">
              <a:alpha val="25000"/>
            </a:srgbClr>
          </a:solidFill>
          <a:ln w="12700">
            <a:solidFill>
              <a:srgbClr val="E53E3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280160" y="18745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 dirty="0">
                <a:ln>
                  <a:noFill/>
                </a:ln>
                <a:solidFill>
                  <a:srgbClr val="E53E3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ATTRITION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280160" y="2148840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is leaving, and why?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280160" y="2450592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Which departments have the highest attrition rate?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280160" y="2697480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Does overtime, distance, or marital status drive exits?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280160" y="2944368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At what tenure point are employees most likely to leave?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419088" y="1783080"/>
            <a:ext cx="5623560" cy="1444752"/>
          </a:xfrm>
          <a:prstGeom prst="rect">
            <a:avLst/>
          </a:prstGeom>
          <a:solidFill>
            <a:srgbClr val="1B2A4A"/>
          </a:solidFill>
          <a:ln w="12700">
            <a:solidFill>
              <a:srgbClr val="38A169">
                <a:alpha val="65000"/>
              </a:srgbClr>
            </a:solidFill>
            <a:prstDash val="solid"/>
          </a:ln>
          <a:effectLst>
            <a:outerShdw blurRad="177800" dist="63500" dir="8100000" algn="bl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419088" y="1783080"/>
            <a:ext cx="5623560" cy="6400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556248" y="1947672"/>
            <a:ext cx="475488" cy="475488"/>
          </a:xfrm>
          <a:prstGeom prst="ellipse">
            <a:avLst/>
          </a:prstGeom>
          <a:solidFill>
            <a:srgbClr val="38A169">
              <a:alpha val="80000"/>
            </a:srgbClr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2011680"/>
            <a:ext cx="338328" cy="338328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7150608" y="1874520"/>
            <a:ext cx="1280160" cy="237744"/>
          </a:xfrm>
          <a:prstGeom prst="rect">
            <a:avLst/>
          </a:prstGeom>
          <a:solidFill>
            <a:srgbClr val="38A169">
              <a:alpha val="25000"/>
            </a:srgbClr>
          </a:solidFill>
          <a:ln w="12700">
            <a:solidFill>
              <a:srgbClr val="38A16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7150608" y="18745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 dirty="0">
                <a:ln>
                  <a:noFill/>
                </a:ln>
                <a:solidFill>
                  <a:srgbClr val="38A1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COMPENSATION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7150608" y="2148840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pay fair and competitive?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7150608" y="2450592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What is the salary range across roles and departments?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7150608" y="2697480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Is  high-attrition Affected by lowest-paid?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7150608" y="2944368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Is tenure rewarded with higher compensation?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548640" y="3383280"/>
            <a:ext cx="5623560" cy="1444752"/>
          </a:xfrm>
          <a:prstGeom prst="rect">
            <a:avLst/>
          </a:prstGeom>
          <a:solidFill>
            <a:srgbClr val="1B2A4A"/>
          </a:solidFill>
          <a:ln w="12700">
            <a:solidFill>
              <a:srgbClr val="6B46C1">
                <a:alpha val="65000"/>
              </a:srgbClr>
            </a:solidFill>
            <a:prstDash val="solid"/>
          </a:ln>
          <a:effectLst>
            <a:outerShdw blurRad="177800" dist="63500" dir="8100000" algn="bl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548640" y="3383280"/>
            <a:ext cx="5623560" cy="640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685800" y="3547872"/>
            <a:ext cx="475488" cy="475488"/>
          </a:xfrm>
          <a:prstGeom prst="ellipse">
            <a:avLst/>
          </a:prstGeom>
          <a:solidFill>
            <a:srgbClr val="6B46C1">
              <a:alpha val="80000"/>
            </a:srgbClr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611880"/>
            <a:ext cx="338328" cy="338328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1280160" y="3474720"/>
            <a:ext cx="1280160" cy="237744"/>
          </a:xfrm>
          <a:prstGeom prst="rect">
            <a:avLst/>
          </a:prstGeom>
          <a:solidFill>
            <a:srgbClr val="6B46C1">
              <a:alpha val="25000"/>
            </a:srgbClr>
          </a:solidFill>
          <a:ln w="12700">
            <a:solidFill>
              <a:srgbClr val="6B46C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1280160" y="3474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 dirty="0">
                <a:ln>
                  <a:noFill/>
                </a:ln>
                <a:solidFill>
                  <a:srgbClr val="6B46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PERFORMANCE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7"/>
          <p:cNvSpPr/>
          <p:nvPr/>
        </p:nvSpPr>
        <p:spPr>
          <a:xfrm>
            <a:off x="1280160" y="3749040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do employees perform and get rated?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8"/>
          <p:cNvSpPr/>
          <p:nvPr/>
        </p:nvSpPr>
        <p:spPr>
          <a:xfrm>
            <a:off x="1280160" y="4050792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What is the distribution of overall vs manager vs self ratings?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39"/>
          <p:cNvSpPr/>
          <p:nvPr/>
        </p:nvSpPr>
        <p:spPr>
          <a:xfrm>
            <a:off x="1280160" y="4297680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Are high performers leaving at higher-than-expected rates?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0"/>
          <p:cNvSpPr/>
          <p:nvPr/>
        </p:nvSpPr>
        <p:spPr>
          <a:xfrm>
            <a:off x="1280160" y="4544568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Is there a gap between manager and self-assessment?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1"/>
          <p:cNvSpPr/>
          <p:nvPr/>
        </p:nvSpPr>
        <p:spPr>
          <a:xfrm>
            <a:off x="6419088" y="3383280"/>
            <a:ext cx="5623560" cy="1444752"/>
          </a:xfrm>
          <a:prstGeom prst="rect">
            <a:avLst/>
          </a:prstGeom>
          <a:solidFill>
            <a:srgbClr val="1B2A4A"/>
          </a:solidFill>
          <a:ln w="12700">
            <a:solidFill>
              <a:srgbClr val="D53F8C">
                <a:alpha val="65000"/>
              </a:srgbClr>
            </a:solidFill>
            <a:prstDash val="solid"/>
          </a:ln>
          <a:effectLst>
            <a:outerShdw blurRad="177800" dist="63500" dir="8100000" algn="bl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6419088" y="3383280"/>
            <a:ext cx="5623560" cy="64008"/>
          </a:xfrm>
          <a:prstGeom prst="rect">
            <a:avLst/>
          </a:prstGeom>
          <a:solidFill>
            <a:srgbClr val="D53F8C"/>
          </a:solidFill>
          <a:ln w="12700">
            <a:solidFill>
              <a:srgbClr val="D53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3"/>
          <p:cNvSpPr/>
          <p:nvPr/>
        </p:nvSpPr>
        <p:spPr>
          <a:xfrm>
            <a:off x="6556248" y="3547872"/>
            <a:ext cx="475488" cy="475488"/>
          </a:xfrm>
          <a:prstGeom prst="ellipse">
            <a:avLst/>
          </a:prstGeom>
          <a:solidFill>
            <a:srgbClr val="D53F8C">
              <a:alpha val="80000"/>
            </a:srgbClr>
          </a:solidFill>
          <a:ln w="12700">
            <a:solidFill>
              <a:srgbClr val="D53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3611880"/>
            <a:ext cx="338328" cy="338328"/>
          </a:xfrm>
          <a:prstGeom prst="rect">
            <a:avLst/>
          </a:prstGeom>
        </p:spPr>
      </p:pic>
      <p:sp>
        <p:nvSpPr>
          <p:cNvPr id="50" name="Shape 44"/>
          <p:cNvSpPr/>
          <p:nvPr/>
        </p:nvSpPr>
        <p:spPr>
          <a:xfrm>
            <a:off x="7150608" y="3474720"/>
            <a:ext cx="1280160" cy="237744"/>
          </a:xfrm>
          <a:prstGeom prst="rect">
            <a:avLst/>
          </a:prstGeom>
          <a:solidFill>
            <a:srgbClr val="D53F8C">
              <a:alpha val="25000"/>
            </a:srgbClr>
          </a:solidFill>
          <a:ln w="12700">
            <a:solidFill>
              <a:srgbClr val="D53F8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/>
          <p:nvPr/>
        </p:nvSpPr>
        <p:spPr>
          <a:xfrm>
            <a:off x="7150608" y="3474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 dirty="0">
                <a:ln>
                  <a:noFill/>
                </a:ln>
                <a:solidFill>
                  <a:srgbClr val="D53F8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SATISFACTION &amp; WELLBEING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46"/>
          <p:cNvSpPr/>
          <p:nvPr/>
        </p:nvSpPr>
        <p:spPr>
          <a:xfrm>
            <a:off x="7150608" y="3749040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drives employee satisfaction?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47"/>
          <p:cNvSpPr/>
          <p:nvPr/>
        </p:nvSpPr>
        <p:spPr>
          <a:xfrm>
            <a:off x="7150608" y="4050792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Do dissatisfied employees leave at a higher rate?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48"/>
          <p:cNvSpPr/>
          <p:nvPr/>
        </p:nvSpPr>
        <p:spPr>
          <a:xfrm>
            <a:off x="7150608" y="4297680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Which department has the worst work-life balance?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49"/>
          <p:cNvSpPr/>
          <p:nvPr/>
        </p:nvSpPr>
        <p:spPr>
          <a:xfrm>
            <a:off x="7150608" y="4544568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How do relationship &amp; env. satisfaction link to attrition?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0"/>
          <p:cNvSpPr/>
          <p:nvPr/>
        </p:nvSpPr>
        <p:spPr>
          <a:xfrm>
            <a:off x="548640" y="4983480"/>
            <a:ext cx="5623560" cy="1444752"/>
          </a:xfrm>
          <a:prstGeom prst="rect">
            <a:avLst/>
          </a:prstGeom>
          <a:solidFill>
            <a:srgbClr val="1B2A4A"/>
          </a:solidFill>
          <a:ln w="12700">
            <a:solidFill>
              <a:srgbClr val="90CDF4">
                <a:alpha val="65000"/>
              </a:srgbClr>
            </a:solidFill>
            <a:prstDash val="solid"/>
          </a:ln>
          <a:effectLst>
            <a:outerShdw blurRad="177800" dist="63500" dir="8100000" algn="bl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1"/>
          <p:cNvSpPr/>
          <p:nvPr/>
        </p:nvSpPr>
        <p:spPr>
          <a:xfrm>
            <a:off x="548640" y="4983480"/>
            <a:ext cx="5623560" cy="64008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2"/>
          <p:cNvSpPr/>
          <p:nvPr/>
        </p:nvSpPr>
        <p:spPr>
          <a:xfrm>
            <a:off x="685800" y="5148072"/>
            <a:ext cx="475488" cy="475488"/>
          </a:xfrm>
          <a:prstGeom prst="ellipse">
            <a:avLst/>
          </a:prstGeom>
          <a:solidFill>
            <a:srgbClr val="90CDF4">
              <a:alpha val="80000"/>
            </a:srgbClr>
          </a:solidFill>
          <a:ln w="12700">
            <a:solidFill>
              <a:srgbClr val="90C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212080"/>
            <a:ext cx="338328" cy="338328"/>
          </a:xfrm>
          <a:prstGeom prst="rect">
            <a:avLst/>
          </a:prstGeom>
        </p:spPr>
      </p:pic>
      <p:sp>
        <p:nvSpPr>
          <p:cNvPr id="60" name="Shape 53"/>
          <p:cNvSpPr/>
          <p:nvPr/>
        </p:nvSpPr>
        <p:spPr>
          <a:xfrm>
            <a:off x="1280160" y="5074920"/>
            <a:ext cx="1280160" cy="237744"/>
          </a:xfrm>
          <a:prstGeom prst="rect">
            <a:avLst/>
          </a:prstGeom>
          <a:solidFill>
            <a:srgbClr val="90CDF4">
              <a:alpha val="25000"/>
            </a:srgbClr>
          </a:solidFill>
          <a:ln w="12700">
            <a:solidFill>
              <a:srgbClr val="90CDF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4"/>
          <p:cNvSpPr/>
          <p:nvPr/>
        </p:nvSpPr>
        <p:spPr>
          <a:xfrm>
            <a:off x="1280160" y="50749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 dirty="0">
                <a:ln>
                  <a:noFill/>
                </a:ln>
                <a:solidFill>
                  <a:srgbClr val="90CDF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DEMOGRAPHICS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55"/>
          <p:cNvSpPr/>
          <p:nvPr/>
        </p:nvSpPr>
        <p:spPr>
          <a:xfrm>
            <a:off x="1280160" y="5349240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makes up the workforce?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56"/>
          <p:cNvSpPr/>
          <p:nvPr/>
        </p:nvSpPr>
        <p:spPr>
          <a:xfrm>
            <a:off x="1280160" y="5650992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What is the gender and ethnicity distribution by department?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57"/>
          <p:cNvSpPr/>
          <p:nvPr/>
        </p:nvSpPr>
        <p:spPr>
          <a:xfrm>
            <a:off x="1280160" y="5897880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Which age group has the highest attrition risk?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58"/>
          <p:cNvSpPr/>
          <p:nvPr/>
        </p:nvSpPr>
        <p:spPr>
          <a:xfrm>
            <a:off x="1280160" y="6144768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How does marital status affect retention?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59"/>
          <p:cNvSpPr/>
          <p:nvPr/>
        </p:nvSpPr>
        <p:spPr>
          <a:xfrm>
            <a:off x="6419088" y="4983480"/>
            <a:ext cx="5623560" cy="1444752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65000"/>
              </a:srgbClr>
            </a:solidFill>
            <a:prstDash val="solid"/>
          </a:ln>
          <a:effectLst>
            <a:outerShdw blurRad="177800" dist="63500" dir="8100000" algn="bl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60"/>
          <p:cNvSpPr/>
          <p:nvPr/>
        </p:nvSpPr>
        <p:spPr>
          <a:xfrm>
            <a:off x="6419088" y="4983480"/>
            <a:ext cx="5623560" cy="6400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1"/>
          <p:cNvSpPr/>
          <p:nvPr/>
        </p:nvSpPr>
        <p:spPr>
          <a:xfrm>
            <a:off x="6556248" y="5148072"/>
            <a:ext cx="475488" cy="475488"/>
          </a:xfrm>
          <a:prstGeom prst="ellipse">
            <a:avLst/>
          </a:prstGeom>
          <a:solidFill>
            <a:srgbClr val="F4A21E">
              <a:alpha val="80000"/>
            </a:srgbClr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0256" y="5212080"/>
            <a:ext cx="338328" cy="338328"/>
          </a:xfrm>
          <a:prstGeom prst="rect">
            <a:avLst/>
          </a:prstGeom>
        </p:spPr>
      </p:pic>
      <p:sp>
        <p:nvSpPr>
          <p:cNvPr id="70" name="Shape 62"/>
          <p:cNvSpPr/>
          <p:nvPr/>
        </p:nvSpPr>
        <p:spPr>
          <a:xfrm>
            <a:off x="7150608" y="5074920"/>
            <a:ext cx="1280160" cy="237744"/>
          </a:xfrm>
          <a:prstGeom prst="rect">
            <a:avLst/>
          </a:prstGeom>
          <a:solidFill>
            <a:srgbClr val="F4A21E">
              <a:alpha val="25000"/>
            </a:srgbClr>
          </a:solidFill>
          <a:ln w="12700">
            <a:solidFill>
              <a:srgbClr val="F4A21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3"/>
          <p:cNvSpPr/>
          <p:nvPr/>
        </p:nvSpPr>
        <p:spPr>
          <a:xfrm>
            <a:off x="7150608" y="50749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 dirty="0">
                <a:ln>
                  <a:noFill/>
                </a:ln>
                <a:solidFill>
                  <a:srgbClr val="F4A2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TRAINING &amp; DEVELOPMENT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64"/>
          <p:cNvSpPr/>
          <p:nvPr/>
        </p:nvSpPr>
        <p:spPr>
          <a:xfrm>
            <a:off x="7150608" y="5349240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learning investment paying off?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65"/>
          <p:cNvSpPr/>
          <p:nvPr/>
        </p:nvSpPr>
        <p:spPr>
          <a:xfrm>
            <a:off x="7150608" y="5650992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What proportion of employees fully utilise training?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66"/>
          <p:cNvSpPr/>
          <p:nvPr/>
        </p:nvSpPr>
        <p:spPr>
          <a:xfrm>
            <a:off x="7150608" y="5897880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Which departments are over- or under-utilized in training?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 67"/>
          <p:cNvSpPr/>
          <p:nvPr/>
        </p:nvSpPr>
        <p:spPr>
          <a:xfrm>
            <a:off x="7150608" y="6144768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Does training utilization correlate with retention?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 68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CE9176C1-3062-C71A-4705-3960D9E25C13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39379" y="42255"/>
            <a:ext cx="856551" cy="787475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14731B0F-BCA3-1B15-CC5C-BF54473BA2F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30517" b="34580"/>
          <a:stretch>
            <a:fillRect/>
          </a:stretch>
        </p:blipFill>
        <p:spPr>
          <a:xfrm>
            <a:off x="9100087" y="145886"/>
            <a:ext cx="1916625" cy="4795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7173">
              <a:alpha val="12000"/>
            </a:srgbClr>
          </a:solidFill>
          <a:ln w="12700">
            <a:solidFill>
              <a:srgbClr val="0F717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F4A21E">
              <a:alpha val="10000"/>
            </a:srgbClr>
          </a:solidFill>
          <a:ln w="12700">
            <a:solidFill>
              <a:srgbClr val="F4A2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01168"/>
            <a:ext cx="54864" cy="29260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011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300" normalizeH="0" baseline="0" noProof="0" dirty="0">
                <a:ln>
                  <a:noFill/>
                </a:ln>
                <a:solidFill>
                  <a:srgbClr val="F4A2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END-TO-END PROCESS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530352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 Workflow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raw CSV to interactive Power BI dashboard — our complete pipeline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" y="1719072"/>
            <a:ext cx="2148840" cy="3108960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65000"/>
              </a:srgbClr>
            </a:solidFill>
            <a:prstDash val="solid"/>
          </a:ln>
          <a:effectLst>
            <a:outerShdw blurRad="177800" dist="63500" dir="8100000" algn="bl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1719072"/>
            <a:ext cx="2148840" cy="7315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80160" y="1837944"/>
            <a:ext cx="566928" cy="566928"/>
          </a:xfrm>
          <a:prstGeom prst="ellipse">
            <a:avLst/>
          </a:prstGeom>
          <a:solidFill>
            <a:srgbClr val="0F7173">
              <a:alpha val="82000"/>
            </a:srgbClr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80160" y="1837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542032"/>
            <a:ext cx="493776" cy="4937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94360" y="31363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Raw Data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822960" y="3776472"/>
            <a:ext cx="1508760" cy="219456"/>
          </a:xfrm>
          <a:prstGeom prst="rect">
            <a:avLst/>
          </a:prstGeom>
          <a:solidFill>
            <a:srgbClr val="0F7173">
              <a:alpha val="28000"/>
            </a:srgbClr>
          </a:solidFill>
          <a:ln w="12700">
            <a:solidFill>
              <a:srgbClr val="0F717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22960" y="377647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50" normalizeH="0" baseline="0" noProof="0" dirty="0">
                <a:ln>
                  <a:noFill/>
                </a:ln>
                <a:solidFill>
                  <a:srgbClr val="0F717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40080" y="40782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 HR CSV dataset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40080" y="43068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 1,470 employees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40080" y="45354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 35 columns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2706624" y="318211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F717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2843784" y="1719072"/>
            <a:ext cx="2148840" cy="3108960"/>
          </a:xfrm>
          <a:prstGeom prst="rect">
            <a:avLst/>
          </a:prstGeom>
          <a:solidFill>
            <a:srgbClr val="1B2A4A"/>
          </a:solidFill>
          <a:ln w="12700">
            <a:solidFill>
              <a:srgbClr val="90CDF4">
                <a:alpha val="65000"/>
              </a:srgbClr>
            </a:solidFill>
            <a:prstDash val="solid"/>
          </a:ln>
          <a:effectLst>
            <a:outerShdw blurRad="177800" dist="63500" dir="8100000" algn="bl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2843784" y="1719072"/>
            <a:ext cx="2148840" cy="73152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621024" y="1837944"/>
            <a:ext cx="566928" cy="566928"/>
          </a:xfrm>
          <a:prstGeom prst="ellipse">
            <a:avLst/>
          </a:prstGeom>
          <a:solidFill>
            <a:srgbClr val="90CDF4">
              <a:alpha val="82000"/>
            </a:srgbClr>
          </a:solidFill>
          <a:ln w="12700">
            <a:solidFill>
              <a:srgbClr val="90C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621024" y="1837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2542032"/>
            <a:ext cx="493776" cy="49377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2935224" y="31363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3163824" y="3776472"/>
            <a:ext cx="1508760" cy="219456"/>
          </a:xfrm>
          <a:prstGeom prst="rect">
            <a:avLst/>
          </a:prstGeom>
          <a:solidFill>
            <a:srgbClr val="90CDF4">
              <a:alpha val="28000"/>
            </a:srgbClr>
          </a:solidFill>
          <a:ln w="12700">
            <a:solidFill>
              <a:srgbClr val="90CDF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3163824" y="377647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50" normalizeH="0" baseline="0" noProof="0" dirty="0">
                <a:ln>
                  <a:noFill/>
                </a:ln>
                <a:solidFill>
                  <a:srgbClr val="90CDF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Query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2980944" y="40782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 Handle nulls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2980944" y="43068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 Standardize types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2980944" y="45354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 Age groups, buckets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5047488" y="318211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90CDF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6"/>
          <p:cNvSpPr/>
          <p:nvPr/>
        </p:nvSpPr>
        <p:spPr>
          <a:xfrm>
            <a:off x="5184648" y="1719072"/>
            <a:ext cx="2148840" cy="3108960"/>
          </a:xfrm>
          <a:prstGeom prst="rect">
            <a:avLst/>
          </a:prstGeom>
          <a:solidFill>
            <a:srgbClr val="1B2A4A"/>
          </a:solidFill>
          <a:ln w="12700">
            <a:solidFill>
              <a:srgbClr val="6B46C1">
                <a:alpha val="65000"/>
              </a:srgbClr>
            </a:solidFill>
            <a:prstDash val="solid"/>
          </a:ln>
          <a:effectLst>
            <a:outerShdw blurRad="177800" dist="63500" dir="8100000" algn="bl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5184648" y="1719072"/>
            <a:ext cx="2148840" cy="73152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5961888" y="1837944"/>
            <a:ext cx="566928" cy="566928"/>
          </a:xfrm>
          <a:prstGeom prst="ellipse">
            <a:avLst/>
          </a:prstGeom>
          <a:solidFill>
            <a:srgbClr val="6B46C1">
              <a:alpha val="82000"/>
            </a:srgbClr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5961888" y="1837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608" y="2542032"/>
            <a:ext cx="493776" cy="493776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5276088" y="31363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1"/>
          <p:cNvSpPr/>
          <p:nvPr/>
        </p:nvSpPr>
        <p:spPr>
          <a:xfrm>
            <a:off x="5504688" y="3776472"/>
            <a:ext cx="1508760" cy="219456"/>
          </a:xfrm>
          <a:prstGeom prst="rect">
            <a:avLst/>
          </a:prstGeom>
          <a:solidFill>
            <a:srgbClr val="6B46C1">
              <a:alpha val="28000"/>
            </a:srgbClr>
          </a:solidFill>
          <a:ln w="12700">
            <a:solidFill>
              <a:srgbClr val="6B46C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5504688" y="377647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50" normalizeH="0" baseline="0" noProof="0" dirty="0">
                <a:ln>
                  <a:noFill/>
                </a:ln>
                <a:solidFill>
                  <a:srgbClr val="6B46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TMDL / DAX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3"/>
          <p:cNvSpPr/>
          <p:nvPr/>
        </p:nvSpPr>
        <p:spPr>
          <a:xfrm>
            <a:off x="5321808" y="40782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 Star schema design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4"/>
          <p:cNvSpPr/>
          <p:nvPr/>
        </p:nvSpPr>
        <p:spPr>
          <a:xfrm>
            <a:off x="5321808" y="43068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 7 dimension tables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5"/>
          <p:cNvSpPr/>
          <p:nvPr/>
        </p:nvSpPr>
        <p:spPr>
          <a:xfrm>
            <a:off x="5321808" y="45354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 DAX measures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6"/>
          <p:cNvSpPr/>
          <p:nvPr/>
        </p:nvSpPr>
        <p:spPr>
          <a:xfrm>
            <a:off x="7388352" y="318211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6B46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47"/>
          <p:cNvSpPr/>
          <p:nvPr/>
        </p:nvSpPr>
        <p:spPr>
          <a:xfrm>
            <a:off x="7525512" y="1719072"/>
            <a:ext cx="2148840" cy="3108960"/>
          </a:xfrm>
          <a:prstGeom prst="rect">
            <a:avLst/>
          </a:prstGeom>
          <a:solidFill>
            <a:srgbClr val="1B2A4A"/>
          </a:solidFill>
          <a:ln w="12700">
            <a:solidFill>
              <a:srgbClr val="D53F8C">
                <a:alpha val="65000"/>
              </a:srgbClr>
            </a:solidFill>
            <a:prstDash val="solid"/>
          </a:ln>
          <a:effectLst>
            <a:outerShdw blurRad="177800" dist="63500" dir="8100000" algn="bl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48"/>
          <p:cNvSpPr/>
          <p:nvPr/>
        </p:nvSpPr>
        <p:spPr>
          <a:xfrm>
            <a:off x="7525512" y="1719072"/>
            <a:ext cx="2148840" cy="73152"/>
          </a:xfrm>
          <a:prstGeom prst="rect">
            <a:avLst/>
          </a:prstGeom>
          <a:solidFill>
            <a:srgbClr val="D53F8C"/>
          </a:solidFill>
          <a:ln w="12700">
            <a:solidFill>
              <a:srgbClr val="D53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9"/>
          <p:cNvSpPr/>
          <p:nvPr/>
        </p:nvSpPr>
        <p:spPr>
          <a:xfrm>
            <a:off x="8302752" y="1837944"/>
            <a:ext cx="566928" cy="566928"/>
          </a:xfrm>
          <a:prstGeom prst="ellipse">
            <a:avLst/>
          </a:prstGeom>
          <a:solidFill>
            <a:srgbClr val="D53F8C">
              <a:alpha val="82000"/>
            </a:srgbClr>
          </a:solidFill>
          <a:ln w="12700">
            <a:solidFill>
              <a:srgbClr val="D53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0"/>
          <p:cNvSpPr/>
          <p:nvPr/>
        </p:nvSpPr>
        <p:spPr>
          <a:xfrm>
            <a:off x="8302752" y="1837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2542032"/>
            <a:ext cx="493776" cy="493776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7616952" y="31363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Dashboard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Design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2"/>
          <p:cNvSpPr/>
          <p:nvPr/>
        </p:nvSpPr>
        <p:spPr>
          <a:xfrm>
            <a:off x="7845552" y="3776472"/>
            <a:ext cx="1508760" cy="219456"/>
          </a:xfrm>
          <a:prstGeom prst="rect">
            <a:avLst/>
          </a:prstGeom>
          <a:solidFill>
            <a:srgbClr val="D53F8C">
              <a:alpha val="28000"/>
            </a:srgbClr>
          </a:solidFill>
          <a:ln w="12700">
            <a:solidFill>
              <a:srgbClr val="D53F8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3"/>
          <p:cNvSpPr/>
          <p:nvPr/>
        </p:nvSpPr>
        <p:spPr>
          <a:xfrm>
            <a:off x="7845552" y="377647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50" normalizeH="0" baseline="0" noProof="0" dirty="0">
                <a:ln>
                  <a:noFill/>
                </a:ln>
                <a:solidFill>
                  <a:srgbClr val="D53F8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BI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4"/>
          <p:cNvSpPr/>
          <p:nvPr/>
        </p:nvSpPr>
        <p:spPr>
          <a:xfrm>
            <a:off x="7662672" y="40782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 11 report pages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5"/>
          <p:cNvSpPr/>
          <p:nvPr/>
        </p:nvSpPr>
        <p:spPr>
          <a:xfrm>
            <a:off x="7662672" y="43068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 60+ visuals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56"/>
          <p:cNvSpPr/>
          <p:nvPr/>
        </p:nvSpPr>
        <p:spPr>
          <a:xfrm>
            <a:off x="7662672" y="45354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 KPI cards &amp; slicers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57"/>
          <p:cNvSpPr/>
          <p:nvPr/>
        </p:nvSpPr>
        <p:spPr>
          <a:xfrm>
            <a:off x="9729216" y="318211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D53F8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58"/>
          <p:cNvSpPr/>
          <p:nvPr/>
        </p:nvSpPr>
        <p:spPr>
          <a:xfrm>
            <a:off x="9866376" y="1719072"/>
            <a:ext cx="2148840" cy="3108960"/>
          </a:xfrm>
          <a:prstGeom prst="rect">
            <a:avLst/>
          </a:prstGeom>
          <a:solidFill>
            <a:srgbClr val="1B2A4A"/>
          </a:solidFill>
          <a:ln w="12700">
            <a:solidFill>
              <a:srgbClr val="38A169">
                <a:alpha val="65000"/>
              </a:srgbClr>
            </a:solidFill>
            <a:prstDash val="solid"/>
          </a:ln>
          <a:effectLst>
            <a:outerShdw blurRad="177800" dist="63500" dir="8100000" algn="bl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59"/>
          <p:cNvSpPr/>
          <p:nvPr/>
        </p:nvSpPr>
        <p:spPr>
          <a:xfrm>
            <a:off x="9866376" y="1719072"/>
            <a:ext cx="2148840" cy="7315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0"/>
          <p:cNvSpPr/>
          <p:nvPr/>
        </p:nvSpPr>
        <p:spPr>
          <a:xfrm>
            <a:off x="10643616" y="1837944"/>
            <a:ext cx="566928" cy="566928"/>
          </a:xfrm>
          <a:prstGeom prst="ellipse">
            <a:avLst/>
          </a:prstGeom>
          <a:solidFill>
            <a:srgbClr val="38A169">
              <a:alpha val="82000"/>
            </a:srgbClr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1"/>
          <p:cNvSpPr/>
          <p:nvPr/>
        </p:nvSpPr>
        <p:spPr>
          <a:xfrm>
            <a:off x="10643616" y="1837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36" y="2542032"/>
            <a:ext cx="493776" cy="493776"/>
          </a:xfrm>
          <a:prstGeom prst="rect">
            <a:avLst/>
          </a:prstGeom>
        </p:spPr>
      </p:pic>
      <p:sp>
        <p:nvSpPr>
          <p:cNvPr id="69" name="Text 62"/>
          <p:cNvSpPr/>
          <p:nvPr/>
        </p:nvSpPr>
        <p:spPr>
          <a:xfrm>
            <a:off x="9957816" y="31363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Insights &amp;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Reporting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Shape 63"/>
          <p:cNvSpPr/>
          <p:nvPr/>
        </p:nvSpPr>
        <p:spPr>
          <a:xfrm>
            <a:off x="10186416" y="3776472"/>
            <a:ext cx="1508760" cy="219456"/>
          </a:xfrm>
          <a:prstGeom prst="rect">
            <a:avLst/>
          </a:prstGeom>
          <a:solidFill>
            <a:srgbClr val="38A169">
              <a:alpha val="28000"/>
            </a:srgbClr>
          </a:solidFill>
          <a:ln w="12700">
            <a:solidFill>
              <a:srgbClr val="38A16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4"/>
          <p:cNvSpPr/>
          <p:nvPr/>
        </p:nvSpPr>
        <p:spPr>
          <a:xfrm>
            <a:off x="10186416" y="377647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50" normalizeH="0" baseline="0" noProof="0" dirty="0">
                <a:ln>
                  <a:noFill/>
                </a:ln>
                <a:solidFill>
                  <a:srgbClr val="38A1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Deliverables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65"/>
          <p:cNvSpPr/>
          <p:nvPr/>
        </p:nvSpPr>
        <p:spPr>
          <a:xfrm>
            <a:off x="10003536" y="40782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 Key findings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66"/>
          <p:cNvSpPr/>
          <p:nvPr/>
        </p:nvSpPr>
        <p:spPr>
          <a:xfrm>
            <a:off x="10003536" y="43068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 Word report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67"/>
          <p:cNvSpPr/>
          <p:nvPr/>
        </p:nvSpPr>
        <p:spPr>
          <a:xfrm>
            <a:off x="10003536" y="45354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 PowerPoint deck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68"/>
          <p:cNvSpPr/>
          <p:nvPr/>
        </p:nvSpPr>
        <p:spPr>
          <a:xfrm>
            <a:off x="502920" y="5047488"/>
            <a:ext cx="11201400" cy="1444752"/>
          </a:xfrm>
          <a:prstGeom prst="rect">
            <a:avLst/>
          </a:prstGeom>
          <a:solidFill>
            <a:srgbClr val="243656"/>
          </a:solidFill>
          <a:ln w="12700">
            <a:solidFill>
              <a:srgbClr val="0F717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6" name="Shape 69"/>
          <p:cNvSpPr/>
          <p:nvPr/>
        </p:nvSpPr>
        <p:spPr>
          <a:xfrm>
            <a:off x="502920" y="5047488"/>
            <a:ext cx="11201400" cy="6400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0"/>
          <p:cNvSpPr/>
          <p:nvPr/>
        </p:nvSpPr>
        <p:spPr>
          <a:xfrm>
            <a:off x="658368" y="50840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50" normalizeH="0" baseline="0" noProof="0" dirty="0">
                <a:ln>
                  <a:noFill/>
                </a:ln>
                <a:solidFill>
                  <a:srgbClr val="F4A2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TOOLS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Shape 71"/>
          <p:cNvSpPr/>
          <p:nvPr/>
        </p:nvSpPr>
        <p:spPr>
          <a:xfrm>
            <a:off x="658368" y="5449824"/>
            <a:ext cx="141732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Shape 72"/>
          <p:cNvSpPr/>
          <p:nvPr/>
        </p:nvSpPr>
        <p:spPr>
          <a:xfrm>
            <a:off x="658368" y="5449824"/>
            <a:ext cx="1417320" cy="6400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3"/>
          <p:cNvSpPr/>
          <p:nvPr/>
        </p:nvSpPr>
        <p:spPr>
          <a:xfrm>
            <a:off x="658368" y="55229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CSV / Excel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4"/>
          <p:cNvSpPr/>
          <p:nvPr/>
        </p:nvSpPr>
        <p:spPr>
          <a:xfrm>
            <a:off x="658368" y="5888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 data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Shape 75"/>
          <p:cNvSpPr/>
          <p:nvPr/>
        </p:nvSpPr>
        <p:spPr>
          <a:xfrm>
            <a:off x="2231136" y="5449824"/>
            <a:ext cx="141732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90CDF4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3" name="Shape 76"/>
          <p:cNvSpPr/>
          <p:nvPr/>
        </p:nvSpPr>
        <p:spPr>
          <a:xfrm>
            <a:off x="2231136" y="5449824"/>
            <a:ext cx="1417320" cy="64008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77"/>
          <p:cNvSpPr/>
          <p:nvPr/>
        </p:nvSpPr>
        <p:spPr>
          <a:xfrm>
            <a:off x="2231136" y="55229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Query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Text 78"/>
          <p:cNvSpPr/>
          <p:nvPr/>
        </p:nvSpPr>
        <p:spPr>
          <a:xfrm>
            <a:off x="2231136" y="5888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ETL &amp; transformation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Shape 79"/>
          <p:cNvSpPr/>
          <p:nvPr/>
        </p:nvSpPr>
        <p:spPr>
          <a:xfrm>
            <a:off x="3803904" y="5449824"/>
            <a:ext cx="141732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7" name="Shape 80"/>
          <p:cNvSpPr/>
          <p:nvPr/>
        </p:nvSpPr>
        <p:spPr>
          <a:xfrm>
            <a:off x="3803904" y="5449824"/>
            <a:ext cx="1417320" cy="6400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1"/>
          <p:cNvSpPr/>
          <p:nvPr/>
        </p:nvSpPr>
        <p:spPr>
          <a:xfrm>
            <a:off x="3803904" y="55229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DAX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Text 82"/>
          <p:cNvSpPr/>
          <p:nvPr/>
        </p:nvSpPr>
        <p:spPr>
          <a:xfrm>
            <a:off x="3803904" y="5888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Measures &amp; KPIs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Shape 83"/>
          <p:cNvSpPr/>
          <p:nvPr/>
        </p:nvSpPr>
        <p:spPr>
          <a:xfrm>
            <a:off x="5376672" y="5449824"/>
            <a:ext cx="141732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6B46C1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1" name="Shape 84"/>
          <p:cNvSpPr/>
          <p:nvPr/>
        </p:nvSpPr>
        <p:spPr>
          <a:xfrm>
            <a:off x="5376672" y="5449824"/>
            <a:ext cx="1417320" cy="640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5"/>
          <p:cNvSpPr/>
          <p:nvPr/>
        </p:nvSpPr>
        <p:spPr>
          <a:xfrm>
            <a:off x="5376672" y="55229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TMDL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 86"/>
          <p:cNvSpPr/>
          <p:nvPr/>
        </p:nvSpPr>
        <p:spPr>
          <a:xfrm>
            <a:off x="5376672" y="5888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Semantic model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Shape 87"/>
          <p:cNvSpPr/>
          <p:nvPr/>
        </p:nvSpPr>
        <p:spPr>
          <a:xfrm>
            <a:off x="6949440" y="5449824"/>
            <a:ext cx="141732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D53F8C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5" name="Shape 88"/>
          <p:cNvSpPr/>
          <p:nvPr/>
        </p:nvSpPr>
        <p:spPr>
          <a:xfrm>
            <a:off x="6949440" y="5449824"/>
            <a:ext cx="1417320" cy="64008"/>
          </a:xfrm>
          <a:prstGeom prst="rect">
            <a:avLst/>
          </a:prstGeom>
          <a:solidFill>
            <a:srgbClr val="D53F8C"/>
          </a:solidFill>
          <a:ln w="12700">
            <a:solidFill>
              <a:srgbClr val="D53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89"/>
          <p:cNvSpPr/>
          <p:nvPr/>
        </p:nvSpPr>
        <p:spPr>
          <a:xfrm>
            <a:off x="6949440" y="55229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BI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Text 90"/>
          <p:cNvSpPr/>
          <p:nvPr/>
        </p:nvSpPr>
        <p:spPr>
          <a:xfrm>
            <a:off x="6949440" y="5888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Visualization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Shape 91"/>
          <p:cNvSpPr/>
          <p:nvPr/>
        </p:nvSpPr>
        <p:spPr>
          <a:xfrm>
            <a:off x="8522208" y="5449824"/>
            <a:ext cx="141732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38A169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9" name="Shape 92"/>
          <p:cNvSpPr/>
          <p:nvPr/>
        </p:nvSpPr>
        <p:spPr>
          <a:xfrm>
            <a:off x="8522208" y="5449824"/>
            <a:ext cx="1417320" cy="6400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3"/>
          <p:cNvSpPr/>
          <p:nvPr/>
        </p:nvSpPr>
        <p:spPr>
          <a:xfrm>
            <a:off x="8522208" y="55229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GitHub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Text 94"/>
          <p:cNvSpPr/>
          <p:nvPr/>
        </p:nvSpPr>
        <p:spPr>
          <a:xfrm>
            <a:off x="8522208" y="5888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Version control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Shape 95"/>
          <p:cNvSpPr/>
          <p:nvPr/>
        </p:nvSpPr>
        <p:spPr>
          <a:xfrm>
            <a:off x="10094976" y="5449824"/>
            <a:ext cx="141732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6A5A8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3" name="Shape 96"/>
          <p:cNvSpPr/>
          <p:nvPr/>
        </p:nvSpPr>
        <p:spPr>
          <a:xfrm>
            <a:off x="10094976" y="5449824"/>
            <a:ext cx="1417320" cy="64008"/>
          </a:xfrm>
          <a:prstGeom prst="rect">
            <a:avLst/>
          </a:prstGeom>
          <a:solidFill>
            <a:srgbClr val="16A5A8"/>
          </a:solidFill>
          <a:ln w="12700">
            <a:solidFill>
              <a:srgbClr val="16A5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97"/>
          <p:cNvSpPr/>
          <p:nvPr/>
        </p:nvSpPr>
        <p:spPr>
          <a:xfrm>
            <a:off x="10094976" y="55229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Python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Text 98"/>
          <p:cNvSpPr/>
          <p:nvPr/>
        </p:nvSpPr>
        <p:spPr>
          <a:xfrm>
            <a:off x="10094976" y="5888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EDA &amp; scripting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Text 99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5FC46E59-664C-58D2-78A1-AD07BC44FE6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39379" y="42255"/>
            <a:ext cx="856551" cy="787475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D23E5878-09A2-850D-BA50-82995EB1567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30517" b="34580"/>
          <a:stretch>
            <a:fillRect/>
          </a:stretch>
        </p:blipFill>
        <p:spPr>
          <a:xfrm>
            <a:off x="9100087" y="145886"/>
            <a:ext cx="1916625" cy="4795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7173">
              <a:alpha val="12000"/>
            </a:srgbClr>
          </a:solidFill>
          <a:ln w="12700">
            <a:solidFill>
              <a:srgbClr val="0F717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F4A21E">
              <a:alpha val="10000"/>
            </a:srgbClr>
          </a:solidFill>
          <a:ln w="12700">
            <a:solidFill>
              <a:srgbClr val="F4A2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"/>
            <a:ext cx="54864" cy="29260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011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300" normalizeH="0" baseline="0" noProof="0" dirty="0">
                <a:ln>
                  <a:noFill/>
                </a:ln>
                <a:solidFill>
                  <a:srgbClr val="F4A2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BI SEMANTIC MODEL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5303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Model — Star Schema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122529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Fact table connected to 7 dimension tables via TMDL semantic model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" y="1664208"/>
            <a:ext cx="7818120" cy="4828032"/>
          </a:xfrm>
          <a:prstGeom prst="rect">
            <a:avLst/>
          </a:prstGeom>
          <a:solidFill>
            <a:srgbClr val="243656"/>
          </a:solidFill>
          <a:ln w="12700">
            <a:solidFill>
              <a:srgbClr val="0F7173">
                <a:alpha val="60000"/>
              </a:srgbClr>
            </a:solidFill>
            <a:prstDash val="solid"/>
          </a:ln>
          <a:effectLst>
            <a:outerShdw blurRad="177800" dist="63500" dir="8100000" algn="bl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577072" y="1664208"/>
            <a:ext cx="3246120" cy="420624"/>
          </a:xfrm>
          <a:prstGeom prst="rect">
            <a:avLst/>
          </a:prstGeom>
          <a:solidFill>
            <a:srgbClr val="243656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577072" y="166420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50" normalizeH="0" baseline="0" noProof="0" dirty="0">
                <a:ln>
                  <a:noFill/>
                </a:ln>
                <a:solidFill>
                  <a:srgbClr val="F4A2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TABLE LEGEND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577072" y="2176272"/>
            <a:ext cx="324612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577072" y="2176272"/>
            <a:ext cx="54864" cy="402336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686800" y="2249424"/>
            <a:ext cx="566928" cy="182880"/>
          </a:xfrm>
          <a:prstGeom prst="rect">
            <a:avLst/>
          </a:prstGeom>
          <a:solidFill>
            <a:srgbClr val="F4A21E">
              <a:alpha val="30000"/>
            </a:srgbClr>
          </a:solidFill>
          <a:ln w="12700">
            <a:solidFill>
              <a:srgbClr val="F4A21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686800" y="224942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100" normalizeH="0" baseline="0" noProof="0" dirty="0">
                <a:ln>
                  <a:noFill/>
                </a:ln>
                <a:solidFill>
                  <a:srgbClr val="F4A2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326880" y="22037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Employee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686800" y="241401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 fact table — 1,470 rows, 35 columns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577072" y="2651760"/>
            <a:ext cx="324612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577072" y="2651760"/>
            <a:ext cx="54864" cy="402336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686800" y="2724912"/>
            <a:ext cx="566928" cy="182880"/>
          </a:xfrm>
          <a:prstGeom prst="rect">
            <a:avLst/>
          </a:prstGeom>
          <a:solidFill>
            <a:srgbClr val="F4A21E">
              <a:alpha val="30000"/>
            </a:srgbClr>
          </a:solidFill>
          <a:ln w="12700">
            <a:solidFill>
              <a:srgbClr val="F4A21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686800" y="27249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100" normalizeH="0" baseline="0" noProof="0" dirty="0">
                <a:ln>
                  <a:noFill/>
                </a:ln>
                <a:solidFill>
                  <a:srgbClr val="F4A2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9326880" y="26791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PerformanceRating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686800" y="288950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Review-level ratings &amp; satisfaction scores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8577072" y="3127248"/>
            <a:ext cx="324612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8577072" y="3127248"/>
            <a:ext cx="54864" cy="40233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686800" y="3200400"/>
            <a:ext cx="566928" cy="182880"/>
          </a:xfrm>
          <a:prstGeom prst="rect">
            <a:avLst/>
          </a:prstGeom>
          <a:solidFill>
            <a:srgbClr val="0F7173">
              <a:alpha val="30000"/>
            </a:srgbClr>
          </a:solidFill>
          <a:ln w="12700">
            <a:solidFill>
              <a:srgbClr val="0F717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686800" y="320040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100" normalizeH="0" baseline="0" noProof="0" dirty="0">
                <a:ln>
                  <a:noFill/>
                </a:ln>
                <a:solidFill>
                  <a:srgbClr val="0F717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9326880" y="31546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RatingLevel_DIM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8686800" y="336499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Maps rating IDs to descriptive labels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8577072" y="3602736"/>
            <a:ext cx="324612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8577072" y="3602736"/>
            <a:ext cx="54864" cy="40233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8686800" y="3675888"/>
            <a:ext cx="566928" cy="182880"/>
          </a:xfrm>
          <a:prstGeom prst="rect">
            <a:avLst/>
          </a:prstGeom>
          <a:solidFill>
            <a:srgbClr val="0F7173">
              <a:alpha val="30000"/>
            </a:srgbClr>
          </a:solidFill>
          <a:ln w="12700">
            <a:solidFill>
              <a:srgbClr val="0F717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686800" y="36758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100" normalizeH="0" baseline="0" noProof="0" dirty="0">
                <a:ln>
                  <a:noFill/>
                </a:ln>
                <a:solidFill>
                  <a:srgbClr val="0F717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9326880" y="36301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SatisfiedLevel_DIM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8686800" y="3840480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Satisfaction ID to % and label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8577072" y="4078224"/>
            <a:ext cx="324612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8577072" y="4078224"/>
            <a:ext cx="54864" cy="40233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8686800" y="4151376"/>
            <a:ext cx="566928" cy="182880"/>
          </a:xfrm>
          <a:prstGeom prst="rect">
            <a:avLst/>
          </a:prstGeom>
          <a:solidFill>
            <a:srgbClr val="0F7173">
              <a:alpha val="30000"/>
            </a:srgbClr>
          </a:solidFill>
          <a:ln w="12700">
            <a:solidFill>
              <a:srgbClr val="0F717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8686800" y="41513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100" normalizeH="0" baseline="0" noProof="0" dirty="0">
                <a:ln>
                  <a:noFill/>
                </a:ln>
                <a:solidFill>
                  <a:srgbClr val="0F717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9326880" y="410565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WorkLifeBalance_DIM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8686800" y="431596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WLB score to label mapping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8577072" y="4553712"/>
            <a:ext cx="324612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6B46C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8577072" y="4553712"/>
            <a:ext cx="54864" cy="402336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8686800" y="4626864"/>
            <a:ext cx="566928" cy="182880"/>
          </a:xfrm>
          <a:prstGeom prst="rect">
            <a:avLst/>
          </a:prstGeom>
          <a:solidFill>
            <a:srgbClr val="6B46C1">
              <a:alpha val="30000"/>
            </a:srgbClr>
          </a:solidFill>
          <a:ln w="12700">
            <a:solidFill>
              <a:srgbClr val="6B46C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8686800" y="462686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100" normalizeH="0" baseline="0" noProof="0" dirty="0">
                <a:ln>
                  <a:noFill/>
                </a:ln>
                <a:solidFill>
                  <a:srgbClr val="6B46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9326880" y="4581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HireDateDim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8686800" y="479145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Date dimension for hire date analysis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8577072" y="5029200"/>
            <a:ext cx="324612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6B46C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8577072" y="5029200"/>
            <a:ext cx="54864" cy="402336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8686800" y="5102352"/>
            <a:ext cx="566928" cy="182880"/>
          </a:xfrm>
          <a:prstGeom prst="rect">
            <a:avLst/>
          </a:prstGeom>
          <a:solidFill>
            <a:srgbClr val="6B46C1">
              <a:alpha val="30000"/>
            </a:srgbClr>
          </a:solidFill>
          <a:ln w="12700">
            <a:solidFill>
              <a:srgbClr val="6B46C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8686800" y="51023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100" normalizeH="0" baseline="0" noProof="0" dirty="0">
                <a:ln>
                  <a:noFill/>
                </a:ln>
                <a:solidFill>
                  <a:srgbClr val="6B46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9326880" y="50566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ReviewDateDim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8686800" y="526694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Date dimension for performance reviews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8577072" y="5504688"/>
            <a:ext cx="324612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8577072" y="5504688"/>
            <a:ext cx="54864" cy="40233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8695944" y="5540558"/>
            <a:ext cx="566928" cy="182880"/>
          </a:xfrm>
          <a:prstGeom prst="rect">
            <a:avLst/>
          </a:prstGeom>
          <a:solidFill>
            <a:srgbClr val="0F7173">
              <a:alpha val="30000"/>
            </a:srgbClr>
          </a:solidFill>
          <a:ln w="12700">
            <a:solidFill>
              <a:srgbClr val="0F717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8686800" y="557784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100" normalizeH="0" baseline="0" noProof="0" dirty="0">
                <a:ln>
                  <a:noFill/>
                </a:ln>
                <a:solidFill>
                  <a:srgbClr val="0F717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9326880" y="5495543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Unpivoted Ratings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8745074" y="5751575"/>
            <a:ext cx="3017520" cy="128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800" dirty="0">
                <a:solidFill>
                  <a:schemeClr val="bg1"/>
                </a:solidFill>
              </a:rPr>
              <a:t>Transforms data into a longitudinal tabular view to generate meaningful insights and outcomes.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68" name="Shape 65"/>
          <p:cNvSpPr/>
          <p:nvPr/>
        </p:nvSpPr>
        <p:spPr>
          <a:xfrm>
            <a:off x="8577072" y="5980176"/>
            <a:ext cx="324612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38A16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8577072" y="5980176"/>
            <a:ext cx="54864" cy="402336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8686800" y="6053328"/>
            <a:ext cx="566928" cy="182880"/>
          </a:xfrm>
          <a:prstGeom prst="rect">
            <a:avLst/>
          </a:prstGeom>
          <a:solidFill>
            <a:srgbClr val="38A169">
              <a:alpha val="30000"/>
            </a:srgbClr>
          </a:solidFill>
          <a:ln w="12700">
            <a:solidFill>
              <a:srgbClr val="38A16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8686800" y="60533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100" normalizeH="0" baseline="0" noProof="0" dirty="0">
                <a:ln>
                  <a:noFill/>
                </a:ln>
                <a:solidFill>
                  <a:srgbClr val="38A1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CALC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9326880" y="60076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TheMeasures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8686800" y="6217920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DAX measures: Active%, Attrition_Rate, etc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74E4B1DB-A3C2-8029-2890-71147E1A6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58" y="1664208"/>
            <a:ext cx="7818120" cy="4824757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12E063BD-E400-BBB9-55AA-56155E5D701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39379" y="42255"/>
            <a:ext cx="856551" cy="787475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7994349B-574E-D939-AA14-A5539D718A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0517" b="34580"/>
          <a:stretch>
            <a:fillRect/>
          </a:stretch>
        </p:blipFill>
        <p:spPr>
          <a:xfrm>
            <a:off x="9100087" y="145886"/>
            <a:ext cx="1916625" cy="4795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-1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7173">
              <a:alpha val="12000"/>
            </a:srgbClr>
          </a:solidFill>
          <a:ln w="12700">
            <a:solidFill>
              <a:srgbClr val="0F717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F4A21E">
              <a:alpha val="10000"/>
            </a:srgbClr>
          </a:solidFill>
          <a:ln w="12700">
            <a:solidFill>
              <a:srgbClr val="F4A2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01168"/>
            <a:ext cx="54864" cy="29260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300" normalizeH="0" baseline="0" noProof="0" dirty="0">
                <a:ln>
                  <a:noFill/>
                </a:ln>
                <a:solidFill>
                  <a:srgbClr val="F4A2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DASHBOARD WALKTHROUGH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39" y="502920"/>
            <a:ext cx="84215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 Dashboard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298448"/>
            <a:ext cx="6766560" cy="5138927"/>
          </a:xfrm>
          <a:prstGeom prst="rect">
            <a:avLst/>
          </a:prstGeom>
          <a:effectLst>
            <a:outerShdw blurRad="203200" dist="63500" dir="8100000" algn="bl" rotWithShape="0">
              <a:srgbClr val="000000">
                <a:alpha val="28000"/>
              </a:srgbClr>
            </a:outerShdw>
          </a:effectLst>
        </p:spPr>
      </p:pic>
      <p:sp>
        <p:nvSpPr>
          <p:cNvPr id="16" name="Shape 13"/>
          <p:cNvSpPr/>
          <p:nvPr/>
        </p:nvSpPr>
        <p:spPr>
          <a:xfrm>
            <a:off x="7498080" y="1298448"/>
            <a:ext cx="443484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498080" y="1298448"/>
            <a:ext cx="64008" cy="74980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662672" y="136245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A2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KPI Cards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662672" y="164592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 (1,470) · Active (1,233) · Inactive (237) · Salary ($119K) · Attrition (16%)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498080" y="2176272"/>
            <a:ext cx="443484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498080" y="2176272"/>
            <a:ext cx="64008" cy="74980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662672" y="22402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717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State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662672" y="252374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California leads with 722 employees across 3 states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498080" y="3054096"/>
            <a:ext cx="443484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6B46C1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498080" y="3054096"/>
            <a:ext cx="64008" cy="7498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662672" y="311810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6B46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Department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662672" y="340156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Technology 67% · Sales 29% · Human Resources 4%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7498080" y="3931920"/>
            <a:ext cx="443484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6A5A8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7498080" y="3931920"/>
            <a:ext cx="64008" cy="749808"/>
          </a:xfrm>
          <a:prstGeom prst="rect">
            <a:avLst/>
          </a:prstGeom>
          <a:solidFill>
            <a:srgbClr val="16A5A8"/>
          </a:solidFill>
          <a:ln w="12700">
            <a:solidFill>
              <a:srgbClr val="16A5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662672" y="39959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Gender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662672" y="427939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Male 591 · Female 642 active employees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7498080" y="4809744"/>
            <a:ext cx="443484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38A169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498080" y="4809744"/>
            <a:ext cx="64008" cy="74980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662672" y="48737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8A1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Job Role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662672" y="515721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Sales Executive &amp; Software Engineer lead headcount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7498080" y="5687568"/>
            <a:ext cx="443484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D53F8C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7498080" y="5687568"/>
            <a:ext cx="64008" cy="749808"/>
          </a:xfrm>
          <a:prstGeom prst="rect">
            <a:avLst/>
          </a:prstGeom>
          <a:solidFill>
            <a:srgbClr val="D53F8C"/>
          </a:solidFill>
          <a:ln w="12700">
            <a:solidFill>
              <a:srgbClr val="D53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662672" y="57515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53F8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Business Travel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7662672" y="603504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71.94% No Travel · 16.87% Some Travel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A1E63A9-AF9A-9730-CFA6-8FC06C2AA40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39379" y="42255"/>
            <a:ext cx="856551" cy="78747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09087061-9C37-B2EB-899D-9C28C6DCE2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0517" b="34580"/>
          <a:stretch>
            <a:fillRect/>
          </a:stretch>
        </p:blipFill>
        <p:spPr>
          <a:xfrm>
            <a:off x="9100087" y="145886"/>
            <a:ext cx="1916625" cy="4795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7173">
              <a:alpha val="12000"/>
            </a:srgbClr>
          </a:solidFill>
          <a:ln w="12700">
            <a:solidFill>
              <a:srgbClr val="0F717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F4A21E">
              <a:alpha val="10000"/>
            </a:srgbClr>
          </a:solidFill>
          <a:ln w="12700">
            <a:solidFill>
              <a:srgbClr val="F4A2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01168"/>
            <a:ext cx="1463040" cy="320040"/>
          </a:xfrm>
          <a:prstGeom prst="rect">
            <a:avLst/>
          </a:prstGeom>
          <a:solidFill>
            <a:srgbClr val="0F7173">
              <a:alpha val="80000"/>
            </a:srgbClr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011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PAGE 1 · WAEL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31720" y="246888"/>
            <a:ext cx="54864" cy="320040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68880" y="2468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4A21E"/>
                </a:solidFill>
              </a:rPr>
              <a:t>EXECUTIVE SUMMARY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Workforce Snapshot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548640" y="1389888"/>
            <a:ext cx="20574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1389888"/>
            <a:ext cx="2057400" cy="5486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36192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24128" y="146304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1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1,470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58368" y="19019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EF2F7"/>
                </a:solidFill>
              </a:rPr>
              <a:t>Total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EF2F7"/>
                </a:solidFill>
              </a:rPr>
              <a:t>Employees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79776" y="1389888"/>
            <a:ext cx="20574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38A169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779776" y="1389888"/>
            <a:ext cx="2057400" cy="54864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504" y="1536192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255264" y="146304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8A1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1,233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2889504" y="19019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EF2F7"/>
                </a:solidFill>
              </a:rPr>
              <a:t>Active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EF2F7"/>
                </a:solidFill>
              </a:rPr>
              <a:t>Employees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010912" y="1389888"/>
            <a:ext cx="20574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E53E3E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5010912" y="1389888"/>
            <a:ext cx="205740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536192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486400" y="146304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237</a:t>
            </a:r>
            <a:endParaRPr lang="en-US" sz="2200" dirty="0"/>
          </a:p>
        </p:txBody>
      </p:sp>
      <p:sp>
        <p:nvSpPr>
          <p:cNvPr id="32" name="Text 27"/>
          <p:cNvSpPr/>
          <p:nvPr/>
        </p:nvSpPr>
        <p:spPr>
          <a:xfrm>
            <a:off x="5120640" y="19019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EF2F7"/>
                </a:solidFill>
              </a:rPr>
              <a:t>Attrited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EF2F7"/>
                </a:solidFill>
              </a:rPr>
              <a:t>Employees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7242048" y="1389888"/>
            <a:ext cx="20574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7242048" y="1389888"/>
            <a:ext cx="2057400" cy="54864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776" y="1536192"/>
            <a:ext cx="274320" cy="2743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717536" y="146304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4A2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16.1%</a:t>
            </a:r>
            <a:endParaRPr lang="en-US" sz="2200" dirty="0"/>
          </a:p>
        </p:txBody>
      </p:sp>
      <p:sp>
        <p:nvSpPr>
          <p:cNvPr id="37" name="Text 31"/>
          <p:cNvSpPr/>
          <p:nvPr/>
        </p:nvSpPr>
        <p:spPr>
          <a:xfrm>
            <a:off x="7351776" y="19019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EF2F7"/>
                </a:solidFill>
              </a:rPr>
              <a:t>Attrition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EF2F7"/>
                </a:solidFill>
              </a:rPr>
              <a:t>Rate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9473184" y="1389888"/>
            <a:ext cx="20574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6B46C1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9473184" y="1389888"/>
            <a:ext cx="2057400" cy="54864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2912" y="1536192"/>
            <a:ext cx="274320" cy="2743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948672" y="146304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B46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$6,500</a:t>
            </a:r>
            <a:endParaRPr lang="en-US" sz="2200" dirty="0"/>
          </a:p>
        </p:txBody>
      </p:sp>
      <p:sp>
        <p:nvSpPr>
          <p:cNvPr id="42" name="Text 35"/>
          <p:cNvSpPr/>
          <p:nvPr/>
        </p:nvSpPr>
        <p:spPr>
          <a:xfrm>
            <a:off x="9582912" y="19019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EF2F7"/>
                </a:solidFill>
              </a:rPr>
              <a:t>Avg. Monthly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EF2F7"/>
                </a:solidFill>
              </a:rPr>
              <a:t>Salary</a:t>
            </a:r>
            <a:endParaRPr lang="en-US" sz="1000" dirty="0"/>
          </a:p>
        </p:txBody>
      </p:sp>
      <p:graphicFrame>
        <p:nvGraphicFramePr>
          <p:cNvPr id="43" name="Chart 0"/>
          <p:cNvGraphicFramePr/>
          <p:nvPr/>
        </p:nvGraphicFramePr>
        <p:xfrm>
          <a:off x="548640" y="2633472"/>
          <a:ext cx="3200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4" name="Chart 1"/>
          <p:cNvGraphicFramePr/>
          <p:nvPr/>
        </p:nvGraphicFramePr>
        <p:xfrm>
          <a:off x="3931920" y="2633472"/>
          <a:ext cx="39319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45" name="Shape 36"/>
          <p:cNvSpPr/>
          <p:nvPr/>
        </p:nvSpPr>
        <p:spPr>
          <a:xfrm>
            <a:off x="8046720" y="2633472"/>
            <a:ext cx="3749040" cy="2926080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5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37"/>
          <p:cNvSpPr/>
          <p:nvPr/>
        </p:nvSpPr>
        <p:spPr>
          <a:xfrm>
            <a:off x="8046720" y="2633472"/>
            <a:ext cx="3749040" cy="54864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8"/>
          <p:cNvSpPr/>
          <p:nvPr/>
        </p:nvSpPr>
        <p:spPr>
          <a:xfrm>
            <a:off x="8229600" y="2697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A21E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48" name="Text 39"/>
          <p:cNvSpPr/>
          <p:nvPr/>
        </p:nvSpPr>
        <p:spPr>
          <a:xfrm>
            <a:off x="8229600" y="3090672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EF2F7"/>
                </a:solidFill>
              </a:rPr>
              <a:t>1 in 6 employees exits each year — 237 of 1,470</a:t>
            </a:r>
            <a:endParaRPr lang="en-US" sz="11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EF2F7"/>
                </a:solidFill>
              </a:rPr>
              <a:t>Sales attrition (20.6%) is highest by department</a:t>
            </a:r>
            <a:endParaRPr lang="en-US" sz="11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EF2F7"/>
                </a:solidFill>
              </a:rPr>
              <a:t>Males = 60% of workforce but 63% of attrition</a:t>
            </a:r>
            <a:endParaRPr lang="en-US" sz="11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EF2F7"/>
                </a:solidFill>
              </a:rPr>
              <a:t>Salary ranges: $2.6K (Sales Rep) → $17K (Manager)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9" name="Text 40"/>
          <p:cNvSpPr/>
          <p:nvPr/>
        </p:nvSpPr>
        <p:spPr>
          <a:xfrm>
            <a:off x="116128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04</a:t>
            </a:r>
            <a:endParaRPr lang="en-US" sz="9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168A91F-CFDB-9479-6C08-ACF88C1175CD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39379" y="42255"/>
            <a:ext cx="856551" cy="78747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51327BC-BCAD-34D7-3ACF-9BA7A95708C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30517" b="34580"/>
          <a:stretch>
            <a:fillRect/>
          </a:stretch>
        </p:blipFill>
        <p:spPr>
          <a:xfrm>
            <a:off x="9100087" y="145886"/>
            <a:ext cx="1916625" cy="4795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-12256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7173">
              <a:alpha val="12000"/>
            </a:srgbClr>
          </a:solidFill>
          <a:ln w="12700">
            <a:solidFill>
              <a:srgbClr val="0F717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661654" y="4187952"/>
            <a:ext cx="3657600" cy="3657600"/>
          </a:xfrm>
          <a:prstGeom prst="ellipse">
            <a:avLst/>
          </a:prstGeom>
          <a:solidFill>
            <a:srgbClr val="F4A21E">
              <a:alpha val="10000"/>
            </a:srgbClr>
          </a:solidFill>
          <a:ln w="12700">
            <a:solidFill>
              <a:srgbClr val="F4A2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48640" y="201168"/>
            <a:ext cx="1554480" cy="320040"/>
          </a:xfrm>
          <a:prstGeom prst="rect">
            <a:avLst/>
          </a:prstGeom>
          <a:solidFill>
            <a:srgbClr val="E53E3E">
              <a:alpha val="80000"/>
            </a:srgbClr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4" name="Text 12"/>
          <p:cNvSpPr/>
          <p:nvPr/>
        </p:nvSpPr>
        <p:spPr>
          <a:xfrm>
            <a:off x="548640" y="2011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PAGE 2</a:t>
            </a:r>
          </a:p>
        </p:txBody>
      </p:sp>
      <p:sp>
        <p:nvSpPr>
          <p:cNvPr id="15" name="Shape 13"/>
          <p:cNvSpPr/>
          <p:nvPr/>
        </p:nvSpPr>
        <p:spPr>
          <a:xfrm>
            <a:off x="2423160" y="246888"/>
            <a:ext cx="54864" cy="320040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560320" y="2468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4A21E"/>
                </a:solidFill>
              </a:rPr>
              <a:t>ATTRITION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Is Leaving — And Why</a:t>
            </a:r>
            <a:endParaRPr lang="en-US" sz="3600" dirty="0"/>
          </a:p>
        </p:txBody>
      </p:sp>
      <p:sp>
        <p:nvSpPr>
          <p:cNvPr id="107" name="Shape 13">
            <a:extLst>
              <a:ext uri="{FF2B5EF4-FFF2-40B4-BE49-F238E27FC236}">
                <a16:creationId xmlns:a16="http://schemas.microsoft.com/office/drawing/2014/main" id="{7D6F3D04-A58D-B358-A873-A1716D580F86}"/>
              </a:ext>
            </a:extLst>
          </p:cNvPr>
          <p:cNvSpPr/>
          <p:nvPr/>
        </p:nvSpPr>
        <p:spPr>
          <a:xfrm>
            <a:off x="8184019" y="1435608"/>
            <a:ext cx="3900294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08" name="Shape 14">
            <a:extLst>
              <a:ext uri="{FF2B5EF4-FFF2-40B4-BE49-F238E27FC236}">
                <a16:creationId xmlns:a16="http://schemas.microsoft.com/office/drawing/2014/main" id="{6C032980-E211-AF29-9839-9929E6E60251}"/>
              </a:ext>
            </a:extLst>
          </p:cNvPr>
          <p:cNvSpPr/>
          <p:nvPr/>
        </p:nvSpPr>
        <p:spPr>
          <a:xfrm>
            <a:off x="8184019" y="1435608"/>
            <a:ext cx="56293" cy="74980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Text 15">
            <a:extLst>
              <a:ext uri="{FF2B5EF4-FFF2-40B4-BE49-F238E27FC236}">
                <a16:creationId xmlns:a16="http://schemas.microsoft.com/office/drawing/2014/main" id="{AC5EC0F0-0F79-DF5A-5176-26939016C528}"/>
              </a:ext>
            </a:extLst>
          </p:cNvPr>
          <p:cNvSpPr/>
          <p:nvPr/>
        </p:nvSpPr>
        <p:spPr>
          <a:xfrm>
            <a:off x="8348611" y="1499616"/>
            <a:ext cx="3659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A2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KPI Cards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Text 16">
            <a:extLst>
              <a:ext uri="{FF2B5EF4-FFF2-40B4-BE49-F238E27FC236}">
                <a16:creationId xmlns:a16="http://schemas.microsoft.com/office/drawing/2014/main" id="{E98C2E4D-8E81-6E38-EC38-F2B04A6E8428}"/>
              </a:ext>
            </a:extLst>
          </p:cNvPr>
          <p:cNvSpPr/>
          <p:nvPr/>
        </p:nvSpPr>
        <p:spPr>
          <a:xfrm>
            <a:off x="8348611" y="1783080"/>
            <a:ext cx="36590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Attrition Rate 16% - Avg Attrition Age 27 – Avg Satisfaction Rating 14 %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Shape 17">
            <a:extLst>
              <a:ext uri="{FF2B5EF4-FFF2-40B4-BE49-F238E27FC236}">
                <a16:creationId xmlns:a16="http://schemas.microsoft.com/office/drawing/2014/main" id="{A88F6357-3C13-3E97-59CC-5723109A4149}"/>
              </a:ext>
            </a:extLst>
          </p:cNvPr>
          <p:cNvSpPr/>
          <p:nvPr/>
        </p:nvSpPr>
        <p:spPr>
          <a:xfrm>
            <a:off x="8184019" y="2313432"/>
            <a:ext cx="3900294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2" name="Shape 18">
            <a:extLst>
              <a:ext uri="{FF2B5EF4-FFF2-40B4-BE49-F238E27FC236}">
                <a16:creationId xmlns:a16="http://schemas.microsoft.com/office/drawing/2014/main" id="{D1602D0F-B9E0-9FF0-1757-531F3F40B778}"/>
              </a:ext>
            </a:extLst>
          </p:cNvPr>
          <p:cNvSpPr/>
          <p:nvPr/>
        </p:nvSpPr>
        <p:spPr>
          <a:xfrm>
            <a:off x="8184019" y="2313432"/>
            <a:ext cx="56293" cy="74980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Text 19">
            <a:extLst>
              <a:ext uri="{FF2B5EF4-FFF2-40B4-BE49-F238E27FC236}">
                <a16:creationId xmlns:a16="http://schemas.microsoft.com/office/drawing/2014/main" id="{D9675DE2-5379-9555-E553-964E1E46E94C}"/>
              </a:ext>
            </a:extLst>
          </p:cNvPr>
          <p:cNvSpPr/>
          <p:nvPr/>
        </p:nvSpPr>
        <p:spPr>
          <a:xfrm>
            <a:off x="8348611" y="2377440"/>
            <a:ext cx="3659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717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commuting Frequency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Text 20">
            <a:extLst>
              <a:ext uri="{FF2B5EF4-FFF2-40B4-BE49-F238E27FC236}">
                <a16:creationId xmlns:a16="http://schemas.microsoft.com/office/drawing/2014/main" id="{59AA68EC-938C-ADBB-840B-FB192C876D12}"/>
              </a:ext>
            </a:extLst>
          </p:cNvPr>
          <p:cNvSpPr/>
          <p:nvPr/>
        </p:nvSpPr>
        <p:spPr>
          <a:xfrm>
            <a:off x="8348611" y="2660904"/>
            <a:ext cx="36590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Frequent travelling is leading by 52.04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Shape 21">
            <a:extLst>
              <a:ext uri="{FF2B5EF4-FFF2-40B4-BE49-F238E27FC236}">
                <a16:creationId xmlns:a16="http://schemas.microsoft.com/office/drawing/2014/main" id="{6A324D1A-7EFA-1118-2EF8-D74ED52A9B0F}"/>
              </a:ext>
            </a:extLst>
          </p:cNvPr>
          <p:cNvSpPr/>
          <p:nvPr/>
        </p:nvSpPr>
        <p:spPr>
          <a:xfrm>
            <a:off x="8184019" y="3191256"/>
            <a:ext cx="3900294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6B46C1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6" name="Shape 22">
            <a:extLst>
              <a:ext uri="{FF2B5EF4-FFF2-40B4-BE49-F238E27FC236}">
                <a16:creationId xmlns:a16="http://schemas.microsoft.com/office/drawing/2014/main" id="{92D1A517-E529-646B-AAB9-200AF24DBB7D}"/>
              </a:ext>
            </a:extLst>
          </p:cNvPr>
          <p:cNvSpPr/>
          <p:nvPr/>
        </p:nvSpPr>
        <p:spPr>
          <a:xfrm>
            <a:off x="8184019" y="3191256"/>
            <a:ext cx="56293" cy="7498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Text 23">
            <a:extLst>
              <a:ext uri="{FF2B5EF4-FFF2-40B4-BE49-F238E27FC236}">
                <a16:creationId xmlns:a16="http://schemas.microsoft.com/office/drawing/2014/main" id="{A542B323-F094-A8A1-A38D-F11EA2FA61DD}"/>
              </a:ext>
            </a:extLst>
          </p:cNvPr>
          <p:cNvSpPr/>
          <p:nvPr/>
        </p:nvSpPr>
        <p:spPr>
          <a:xfrm>
            <a:off x="8348611" y="3255264"/>
            <a:ext cx="3659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6B46C1"/>
                </a:solidFill>
                <a:latin typeface="Calibri" panose="020F0502020204030204"/>
              </a:rPr>
              <a:t>By Age Group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Text 24">
            <a:extLst>
              <a:ext uri="{FF2B5EF4-FFF2-40B4-BE49-F238E27FC236}">
                <a16:creationId xmlns:a16="http://schemas.microsoft.com/office/drawing/2014/main" id="{F09E69B2-9B3F-97DA-6586-50F57EBB02B6}"/>
              </a:ext>
            </a:extLst>
          </p:cNvPr>
          <p:cNvSpPr/>
          <p:nvPr/>
        </p:nvSpPr>
        <p:spPr>
          <a:xfrm>
            <a:off x="8348611" y="3538728"/>
            <a:ext cx="36590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24-34 is leading by 118 employees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Shape 25">
            <a:extLst>
              <a:ext uri="{FF2B5EF4-FFF2-40B4-BE49-F238E27FC236}">
                <a16:creationId xmlns:a16="http://schemas.microsoft.com/office/drawing/2014/main" id="{08AD71AE-781B-B30D-66D7-D06A19D6900C}"/>
              </a:ext>
            </a:extLst>
          </p:cNvPr>
          <p:cNvSpPr/>
          <p:nvPr/>
        </p:nvSpPr>
        <p:spPr>
          <a:xfrm>
            <a:off x="8184019" y="4069080"/>
            <a:ext cx="3900294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6A5A8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20" name="Shape 26">
            <a:extLst>
              <a:ext uri="{FF2B5EF4-FFF2-40B4-BE49-F238E27FC236}">
                <a16:creationId xmlns:a16="http://schemas.microsoft.com/office/drawing/2014/main" id="{EE5070B2-E868-1C1B-6B4C-11F1D8BDEE6F}"/>
              </a:ext>
            </a:extLst>
          </p:cNvPr>
          <p:cNvSpPr/>
          <p:nvPr/>
        </p:nvSpPr>
        <p:spPr>
          <a:xfrm>
            <a:off x="8184019" y="4069080"/>
            <a:ext cx="56293" cy="749808"/>
          </a:xfrm>
          <a:prstGeom prst="rect">
            <a:avLst/>
          </a:prstGeom>
          <a:solidFill>
            <a:srgbClr val="16A5A8"/>
          </a:solidFill>
          <a:ln w="12700">
            <a:solidFill>
              <a:srgbClr val="16A5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Text 27">
            <a:extLst>
              <a:ext uri="{FF2B5EF4-FFF2-40B4-BE49-F238E27FC236}">
                <a16:creationId xmlns:a16="http://schemas.microsoft.com/office/drawing/2014/main" id="{7160A3B7-A07D-598A-C2C2-6557799C7D94}"/>
              </a:ext>
            </a:extLst>
          </p:cNvPr>
          <p:cNvSpPr/>
          <p:nvPr/>
        </p:nvSpPr>
        <p:spPr>
          <a:xfrm>
            <a:off x="8348611" y="4133088"/>
            <a:ext cx="3659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Year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Text 28">
            <a:extLst>
              <a:ext uri="{FF2B5EF4-FFF2-40B4-BE49-F238E27FC236}">
                <a16:creationId xmlns:a16="http://schemas.microsoft.com/office/drawing/2014/main" id="{CE1080FB-FE09-71D5-7077-A16FBFD3B108}"/>
              </a:ext>
            </a:extLst>
          </p:cNvPr>
          <p:cNvSpPr/>
          <p:nvPr/>
        </p:nvSpPr>
        <p:spPr>
          <a:xfrm>
            <a:off x="8348611" y="4416552"/>
            <a:ext cx="36590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Year 2020 is 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</a:t>
            </a:r>
            <a:r>
              <a:rPr lang="en-US" sz="950" dirty="0">
                <a:solidFill>
                  <a:srgbClr val="EEF2F7"/>
                </a:solidFill>
                <a:latin typeface="Calibri" panose="020F0502020204030204"/>
              </a:rPr>
              <a:t>e highest attrition year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Shape 29">
            <a:extLst>
              <a:ext uri="{FF2B5EF4-FFF2-40B4-BE49-F238E27FC236}">
                <a16:creationId xmlns:a16="http://schemas.microsoft.com/office/drawing/2014/main" id="{E183E706-543A-7408-9D2C-927C6687666F}"/>
              </a:ext>
            </a:extLst>
          </p:cNvPr>
          <p:cNvSpPr/>
          <p:nvPr/>
        </p:nvSpPr>
        <p:spPr>
          <a:xfrm>
            <a:off x="8184019" y="4965566"/>
            <a:ext cx="3900294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38A169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24" name="Shape 30">
            <a:extLst>
              <a:ext uri="{FF2B5EF4-FFF2-40B4-BE49-F238E27FC236}">
                <a16:creationId xmlns:a16="http://schemas.microsoft.com/office/drawing/2014/main" id="{1F57EAB1-592E-5FFE-A4D6-10523F0B4A26}"/>
              </a:ext>
            </a:extLst>
          </p:cNvPr>
          <p:cNvSpPr/>
          <p:nvPr/>
        </p:nvSpPr>
        <p:spPr>
          <a:xfrm>
            <a:off x="8184019" y="4946904"/>
            <a:ext cx="56293" cy="74980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5" name="Text 31">
            <a:extLst>
              <a:ext uri="{FF2B5EF4-FFF2-40B4-BE49-F238E27FC236}">
                <a16:creationId xmlns:a16="http://schemas.microsoft.com/office/drawing/2014/main" id="{35A88CC9-6FE3-FDB6-6375-07D9061AD9CC}"/>
              </a:ext>
            </a:extLst>
          </p:cNvPr>
          <p:cNvSpPr/>
          <p:nvPr/>
        </p:nvSpPr>
        <p:spPr>
          <a:xfrm>
            <a:off x="8348611" y="5010912"/>
            <a:ext cx="3659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8A1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 Cause Analysis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Text 32">
            <a:extLst>
              <a:ext uri="{FF2B5EF4-FFF2-40B4-BE49-F238E27FC236}">
                <a16:creationId xmlns:a16="http://schemas.microsoft.com/office/drawing/2014/main" id="{7FC4CC97-544F-ED4E-F40A-ADBB95B451E3}"/>
              </a:ext>
            </a:extLst>
          </p:cNvPr>
          <p:cNvSpPr/>
          <p:nvPr/>
        </p:nvSpPr>
        <p:spPr>
          <a:xfrm>
            <a:off x="8348611" y="5294376"/>
            <a:ext cx="36590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50" dirty="0">
                <a:solidFill>
                  <a:srgbClr val="EEF2F7"/>
                </a:solidFill>
                <a:latin typeface="Calibri" panose="020F0502020204030204"/>
              </a:rPr>
              <a:t>Most of attrition employees are male, IT department and they are having overtime frequently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67BD6F-0554-5896-A288-F1C2148A5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4" y="1325880"/>
            <a:ext cx="8023466" cy="51663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48024B-917B-4777-EB80-5228997F83E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39379" y="42255"/>
            <a:ext cx="856551" cy="787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49D31B-E73F-858B-0637-3564E7A4B3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0517" b="34580"/>
          <a:stretch>
            <a:fillRect/>
          </a:stretch>
        </p:blipFill>
        <p:spPr>
          <a:xfrm>
            <a:off x="9100087" y="145886"/>
            <a:ext cx="1916625" cy="4795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7173">
              <a:alpha val="12000"/>
            </a:srgbClr>
          </a:solidFill>
          <a:ln w="12700">
            <a:solidFill>
              <a:srgbClr val="0F717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9784080" y="4434840"/>
            <a:ext cx="3657600" cy="3657600"/>
          </a:xfrm>
          <a:prstGeom prst="ellipse">
            <a:avLst/>
          </a:prstGeom>
          <a:solidFill>
            <a:srgbClr val="F4A21E">
              <a:alpha val="10000"/>
            </a:srgbClr>
          </a:solidFill>
          <a:ln w="12700">
            <a:solidFill>
              <a:srgbClr val="F4A2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48640" y="201168"/>
            <a:ext cx="2011680" cy="320040"/>
          </a:xfrm>
          <a:prstGeom prst="rect">
            <a:avLst/>
          </a:prstGeom>
          <a:solidFill>
            <a:srgbClr val="D53F8C">
              <a:alpha val="80000"/>
            </a:srgbClr>
          </a:solidFill>
          <a:ln w="12700">
            <a:solidFill>
              <a:srgbClr val="D53F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48640" y="2011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PAGE 3</a:t>
            </a:r>
          </a:p>
        </p:txBody>
      </p:sp>
      <p:sp>
        <p:nvSpPr>
          <p:cNvPr id="15" name="Shape 13"/>
          <p:cNvSpPr/>
          <p:nvPr/>
        </p:nvSpPr>
        <p:spPr>
          <a:xfrm>
            <a:off x="2926080" y="246888"/>
            <a:ext cx="54864" cy="320040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063240" y="2468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4A21E"/>
                </a:solidFill>
              </a:rPr>
              <a:t>SATISFACTION &amp; WORK-LIFE BALANCE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Employee Wellbeing &amp; Retention Risk</a:t>
            </a:r>
            <a:endParaRPr lang="en-US" sz="34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1537A59-C9D2-1715-2FFD-909A1BA48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60" y="1299512"/>
            <a:ext cx="8493776" cy="5459506"/>
          </a:xfrm>
          <a:prstGeom prst="rect">
            <a:avLst/>
          </a:prstGeom>
        </p:spPr>
      </p:pic>
      <p:sp>
        <p:nvSpPr>
          <p:cNvPr id="51" name="Shape 13">
            <a:extLst>
              <a:ext uri="{FF2B5EF4-FFF2-40B4-BE49-F238E27FC236}">
                <a16:creationId xmlns:a16="http://schemas.microsoft.com/office/drawing/2014/main" id="{98C33760-84B2-FD5C-E1DF-5C1830BF3251}"/>
              </a:ext>
            </a:extLst>
          </p:cNvPr>
          <p:cNvSpPr/>
          <p:nvPr/>
        </p:nvSpPr>
        <p:spPr>
          <a:xfrm>
            <a:off x="8778309" y="1664208"/>
            <a:ext cx="3141885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DB770B38-6C19-9800-61AC-010D79508392}"/>
              </a:ext>
            </a:extLst>
          </p:cNvPr>
          <p:cNvSpPr/>
          <p:nvPr/>
        </p:nvSpPr>
        <p:spPr>
          <a:xfrm>
            <a:off x="8778309" y="1664208"/>
            <a:ext cx="45719" cy="74980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15">
            <a:extLst>
              <a:ext uri="{FF2B5EF4-FFF2-40B4-BE49-F238E27FC236}">
                <a16:creationId xmlns:a16="http://schemas.microsoft.com/office/drawing/2014/main" id="{C254DA5A-EDF5-947E-0A59-3E58E9E7F1CB}"/>
              </a:ext>
            </a:extLst>
          </p:cNvPr>
          <p:cNvSpPr/>
          <p:nvPr/>
        </p:nvSpPr>
        <p:spPr>
          <a:xfrm>
            <a:off x="8942901" y="1728216"/>
            <a:ext cx="29475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4A21E"/>
                </a:solidFill>
                <a:latin typeface="Calibri" panose="020F0502020204030204"/>
              </a:rPr>
              <a:t>2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A2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KPI Cards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E18D2F70-64DC-8BD6-E22C-F460AD941873}"/>
              </a:ext>
            </a:extLst>
          </p:cNvPr>
          <p:cNvSpPr/>
          <p:nvPr/>
        </p:nvSpPr>
        <p:spPr>
          <a:xfrm>
            <a:off x="8942901" y="2011680"/>
            <a:ext cx="29475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 1470 – Avg overall satisfaction 75%  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17">
            <a:extLst>
              <a:ext uri="{FF2B5EF4-FFF2-40B4-BE49-F238E27FC236}">
                <a16:creationId xmlns:a16="http://schemas.microsoft.com/office/drawing/2014/main" id="{2790707B-E488-DB04-DA40-C1579DD19200}"/>
              </a:ext>
            </a:extLst>
          </p:cNvPr>
          <p:cNvSpPr/>
          <p:nvPr/>
        </p:nvSpPr>
        <p:spPr>
          <a:xfrm>
            <a:off x="8778309" y="2542032"/>
            <a:ext cx="3141885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CC19DFA9-6BBB-C94F-9201-FC23A012262B}"/>
              </a:ext>
            </a:extLst>
          </p:cNvPr>
          <p:cNvSpPr/>
          <p:nvPr/>
        </p:nvSpPr>
        <p:spPr>
          <a:xfrm>
            <a:off x="8778309" y="2542032"/>
            <a:ext cx="45719" cy="74980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3134BAF7-231C-BB22-D680-3D48D12F803D}"/>
              </a:ext>
            </a:extLst>
          </p:cNvPr>
          <p:cNvSpPr/>
          <p:nvPr/>
        </p:nvSpPr>
        <p:spPr>
          <a:xfrm>
            <a:off x="8942901" y="2606040"/>
            <a:ext cx="29475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717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Active Satisfaction by Question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39DE5B2D-966F-BE4C-D6F6-BD4349882EE0}"/>
              </a:ext>
            </a:extLst>
          </p:cNvPr>
          <p:cNvSpPr/>
          <p:nvPr/>
        </p:nvSpPr>
        <p:spPr>
          <a:xfrm>
            <a:off x="8942901" y="2889504"/>
            <a:ext cx="29475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Environment Satisfaction is leading by 77.45%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21">
            <a:extLst>
              <a:ext uri="{FF2B5EF4-FFF2-40B4-BE49-F238E27FC236}">
                <a16:creationId xmlns:a16="http://schemas.microsoft.com/office/drawing/2014/main" id="{3A25CD44-60F8-336D-7A1D-77D501EDD2A5}"/>
              </a:ext>
            </a:extLst>
          </p:cNvPr>
          <p:cNvSpPr/>
          <p:nvPr/>
        </p:nvSpPr>
        <p:spPr>
          <a:xfrm>
            <a:off x="8778309" y="3419856"/>
            <a:ext cx="3141885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6B46C1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0" name="Shape 22">
            <a:extLst>
              <a:ext uri="{FF2B5EF4-FFF2-40B4-BE49-F238E27FC236}">
                <a16:creationId xmlns:a16="http://schemas.microsoft.com/office/drawing/2014/main" id="{2C60E03D-F5A6-9ACF-40D0-A8B3F7F5B576}"/>
              </a:ext>
            </a:extLst>
          </p:cNvPr>
          <p:cNvSpPr/>
          <p:nvPr/>
        </p:nvSpPr>
        <p:spPr>
          <a:xfrm>
            <a:off x="8778309" y="3419856"/>
            <a:ext cx="45719" cy="7498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790C16EB-3A22-BCF5-16E6-4A30927F499A}"/>
              </a:ext>
            </a:extLst>
          </p:cNvPr>
          <p:cNvSpPr/>
          <p:nvPr/>
        </p:nvSpPr>
        <p:spPr>
          <a:xfrm>
            <a:off x="8942901" y="3483864"/>
            <a:ext cx="29475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6B46C1"/>
                </a:solidFill>
                <a:latin typeface="Calibri" panose="020F0502020204030204"/>
              </a:rPr>
              <a:t>High Satisfaction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24">
            <a:extLst>
              <a:ext uri="{FF2B5EF4-FFF2-40B4-BE49-F238E27FC236}">
                <a16:creationId xmlns:a16="http://schemas.microsoft.com/office/drawing/2014/main" id="{6A7E1301-87AD-65B8-79EC-028B7BCD21F1}"/>
              </a:ext>
            </a:extLst>
          </p:cNvPr>
          <p:cNvSpPr/>
          <p:nvPr/>
        </p:nvSpPr>
        <p:spPr>
          <a:xfrm>
            <a:off x="8942901" y="3767328"/>
            <a:ext cx="29475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Human Resources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941B1F7D-F28E-3B9C-C184-F4E04B06696D}"/>
              </a:ext>
            </a:extLst>
          </p:cNvPr>
          <p:cNvSpPr/>
          <p:nvPr/>
        </p:nvSpPr>
        <p:spPr>
          <a:xfrm>
            <a:off x="8778309" y="4297680"/>
            <a:ext cx="3141885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6A5A8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64" name="Shape 26">
            <a:extLst>
              <a:ext uri="{FF2B5EF4-FFF2-40B4-BE49-F238E27FC236}">
                <a16:creationId xmlns:a16="http://schemas.microsoft.com/office/drawing/2014/main" id="{5C8A7E57-B357-E331-C0F2-D0DA51F71016}"/>
              </a:ext>
            </a:extLst>
          </p:cNvPr>
          <p:cNvSpPr/>
          <p:nvPr/>
        </p:nvSpPr>
        <p:spPr>
          <a:xfrm>
            <a:off x="8778309" y="4297680"/>
            <a:ext cx="45719" cy="749808"/>
          </a:xfrm>
          <a:prstGeom prst="rect">
            <a:avLst/>
          </a:prstGeom>
          <a:solidFill>
            <a:srgbClr val="16A5A8"/>
          </a:solidFill>
          <a:ln w="12700">
            <a:solidFill>
              <a:srgbClr val="16A5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27">
            <a:extLst>
              <a:ext uri="{FF2B5EF4-FFF2-40B4-BE49-F238E27FC236}">
                <a16:creationId xmlns:a16="http://schemas.microsoft.com/office/drawing/2014/main" id="{2BAFF6FE-D483-7461-B40E-5B7A3B71DEDF}"/>
              </a:ext>
            </a:extLst>
          </p:cNvPr>
          <p:cNvSpPr/>
          <p:nvPr/>
        </p:nvSpPr>
        <p:spPr>
          <a:xfrm>
            <a:off x="8942901" y="4361688"/>
            <a:ext cx="29475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 Satisfaction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28">
            <a:extLst>
              <a:ext uri="{FF2B5EF4-FFF2-40B4-BE49-F238E27FC236}">
                <a16:creationId xmlns:a16="http://schemas.microsoft.com/office/drawing/2014/main" id="{F154A400-DFBC-CEC9-F760-79EBD1BE4F8E}"/>
              </a:ext>
            </a:extLst>
          </p:cNvPr>
          <p:cNvSpPr/>
          <p:nvPr/>
        </p:nvSpPr>
        <p:spPr>
          <a:xfrm>
            <a:off x="8942901" y="4645152"/>
            <a:ext cx="29475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Information Technology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8DECD1-F5F5-12FE-925F-B5D10B5141E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39379" y="42255"/>
            <a:ext cx="856551" cy="787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675E57-BB0C-1841-C48B-AEE36B9833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0517" b="34580"/>
          <a:stretch>
            <a:fillRect/>
          </a:stretch>
        </p:blipFill>
        <p:spPr>
          <a:xfrm>
            <a:off x="9100087" y="145886"/>
            <a:ext cx="1916625" cy="4795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7173">
              <a:alpha val="12000"/>
            </a:srgbClr>
          </a:solidFill>
          <a:ln w="12700">
            <a:solidFill>
              <a:srgbClr val="0F717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946191" y="4297680"/>
            <a:ext cx="3657600" cy="3657600"/>
          </a:xfrm>
          <a:prstGeom prst="ellipse">
            <a:avLst/>
          </a:prstGeom>
          <a:solidFill>
            <a:srgbClr val="F4A21E">
              <a:alpha val="10000"/>
            </a:srgbClr>
          </a:solidFill>
          <a:ln w="12700">
            <a:solidFill>
              <a:srgbClr val="F4A2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53353" y="201168"/>
            <a:ext cx="1828800" cy="320040"/>
          </a:xfrm>
          <a:prstGeom prst="rect">
            <a:avLst/>
          </a:prstGeom>
          <a:solidFill>
            <a:srgbClr val="6B46C1">
              <a:alpha val="80000"/>
            </a:srgbClr>
          </a:solidFill>
          <a:ln w="12700">
            <a:solidFill>
              <a:srgbClr val="6B4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4" name="Text 12"/>
          <p:cNvSpPr/>
          <p:nvPr/>
        </p:nvSpPr>
        <p:spPr>
          <a:xfrm>
            <a:off x="548640" y="2011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PAGE 4</a:t>
            </a:r>
          </a:p>
          <a:p>
            <a:pPr marL="0" indent="0" algn="ctr">
              <a:buNone/>
            </a:pPr>
            <a:endParaRPr lang="en-US" sz="800" b="1" kern="0" spc="100" dirty="0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0" y="246888"/>
            <a:ext cx="54864" cy="320040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880360" y="2468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4A21E"/>
                </a:solidFill>
              </a:rPr>
              <a:t>PERFORMANCE &amp; RATINGS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4945" y="646431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Employees Perform &amp; Where They're Rated</a:t>
            </a:r>
            <a:endParaRPr lang="en-US" sz="3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65D1F1C-0106-FDF7-541C-2A76607FA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464616"/>
            <a:ext cx="8183382" cy="5233124"/>
          </a:xfrm>
          <a:prstGeom prst="rect">
            <a:avLst/>
          </a:prstGeom>
        </p:spPr>
      </p:pic>
      <p:sp>
        <p:nvSpPr>
          <p:cNvPr id="33" name="Shape 13">
            <a:extLst>
              <a:ext uri="{FF2B5EF4-FFF2-40B4-BE49-F238E27FC236}">
                <a16:creationId xmlns:a16="http://schemas.microsoft.com/office/drawing/2014/main" id="{92B6787D-DAE6-B946-6DE8-37D7804FE9F1}"/>
              </a:ext>
            </a:extLst>
          </p:cNvPr>
          <p:cNvSpPr/>
          <p:nvPr/>
        </p:nvSpPr>
        <p:spPr>
          <a:xfrm>
            <a:off x="8680082" y="1636776"/>
            <a:ext cx="3184305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6152721A-9BE5-0517-36A8-7226892CE6F0}"/>
              </a:ext>
            </a:extLst>
          </p:cNvPr>
          <p:cNvSpPr/>
          <p:nvPr/>
        </p:nvSpPr>
        <p:spPr>
          <a:xfrm>
            <a:off x="8680082" y="1636776"/>
            <a:ext cx="45959" cy="74980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AACF0CB2-4C45-E604-494B-D7B55EEE753F}"/>
              </a:ext>
            </a:extLst>
          </p:cNvPr>
          <p:cNvSpPr/>
          <p:nvPr/>
        </p:nvSpPr>
        <p:spPr>
          <a:xfrm>
            <a:off x="8844674" y="1700784"/>
            <a:ext cx="2987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4A21E"/>
                </a:solidFill>
                <a:latin typeface="Calibri" panose="020F0502020204030204"/>
              </a:rPr>
              <a:t>2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A2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KPI Cards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06BDBE22-B07A-05F8-972B-D83DD4395098}"/>
              </a:ext>
            </a:extLst>
          </p:cNvPr>
          <p:cNvSpPr/>
          <p:nvPr/>
        </p:nvSpPr>
        <p:spPr>
          <a:xfrm>
            <a:off x="8844674" y="1984248"/>
            <a:ext cx="29873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Avg Self rating 79.68% - Avg Manager Rating 69.47%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1B819B65-AD6C-9DE0-4F18-92156DD098B6}"/>
              </a:ext>
            </a:extLst>
          </p:cNvPr>
          <p:cNvSpPr/>
          <p:nvPr/>
        </p:nvSpPr>
        <p:spPr>
          <a:xfrm>
            <a:off x="8680082" y="2514600"/>
            <a:ext cx="3184305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889EBBCC-0B3B-DD5B-6496-A3819E987239}"/>
              </a:ext>
            </a:extLst>
          </p:cNvPr>
          <p:cNvSpPr/>
          <p:nvPr/>
        </p:nvSpPr>
        <p:spPr>
          <a:xfrm>
            <a:off x="8680082" y="2514600"/>
            <a:ext cx="45959" cy="74980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AD9D247E-1CA7-652B-6472-35BD8DA41817}"/>
              </a:ext>
            </a:extLst>
          </p:cNvPr>
          <p:cNvSpPr/>
          <p:nvPr/>
        </p:nvSpPr>
        <p:spPr>
          <a:xfrm>
            <a:off x="8844674" y="2578608"/>
            <a:ext cx="2987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717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Overall Performance Rating By Year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EFD95D37-F7C0-5258-ED17-B699D6A79B55}"/>
              </a:ext>
            </a:extLst>
          </p:cNvPr>
          <p:cNvSpPr/>
          <p:nvPr/>
        </p:nvSpPr>
        <p:spPr>
          <a:xfrm>
            <a:off x="8844674" y="2862072"/>
            <a:ext cx="29873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7-10 years </a:t>
            </a:r>
            <a:r>
              <a:rPr lang="en-US" sz="950" dirty="0">
                <a:solidFill>
                  <a:srgbClr val="EEF2F7"/>
                </a:solidFill>
                <a:latin typeface="Calibri" panose="020F0502020204030204"/>
              </a:rPr>
              <a:t>is leading by 74.94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1DC8717D-B05C-3A4B-E0FE-328398EDFD53}"/>
              </a:ext>
            </a:extLst>
          </p:cNvPr>
          <p:cNvSpPr/>
          <p:nvPr/>
        </p:nvSpPr>
        <p:spPr>
          <a:xfrm>
            <a:off x="8680082" y="3392424"/>
            <a:ext cx="3184305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6B46C1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694C52F8-9116-F6B4-5369-E0BF6674E19F}"/>
              </a:ext>
            </a:extLst>
          </p:cNvPr>
          <p:cNvSpPr/>
          <p:nvPr/>
        </p:nvSpPr>
        <p:spPr>
          <a:xfrm>
            <a:off x="8680082" y="3392424"/>
            <a:ext cx="45959" cy="7498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8231F386-71E2-834A-AA74-A1FF033D221C}"/>
              </a:ext>
            </a:extLst>
          </p:cNvPr>
          <p:cNvSpPr/>
          <p:nvPr/>
        </p:nvSpPr>
        <p:spPr>
          <a:xfrm>
            <a:off x="8844674" y="3456432"/>
            <a:ext cx="2987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6B46C1"/>
                </a:solidFill>
                <a:latin typeface="Calibri" panose="020F0502020204030204"/>
              </a:rPr>
              <a:t>High Performer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B266E1AB-ED90-0239-6B62-77EB53F3518D}"/>
              </a:ext>
            </a:extLst>
          </p:cNvPr>
          <p:cNvSpPr/>
          <p:nvPr/>
        </p:nvSpPr>
        <p:spPr>
          <a:xfrm>
            <a:off x="8844674" y="3739896"/>
            <a:ext cx="29873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Human Resources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25">
            <a:extLst>
              <a:ext uri="{FF2B5EF4-FFF2-40B4-BE49-F238E27FC236}">
                <a16:creationId xmlns:a16="http://schemas.microsoft.com/office/drawing/2014/main" id="{8CEB4156-EC36-0859-915B-8ACD2BE4193B}"/>
              </a:ext>
            </a:extLst>
          </p:cNvPr>
          <p:cNvSpPr/>
          <p:nvPr/>
        </p:nvSpPr>
        <p:spPr>
          <a:xfrm>
            <a:off x="8680082" y="4270248"/>
            <a:ext cx="3184305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6A5A8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555C842A-7E31-BC53-EE8B-D84D4E49C9A5}"/>
              </a:ext>
            </a:extLst>
          </p:cNvPr>
          <p:cNvSpPr/>
          <p:nvPr/>
        </p:nvSpPr>
        <p:spPr>
          <a:xfrm>
            <a:off x="8680082" y="4270248"/>
            <a:ext cx="45959" cy="749808"/>
          </a:xfrm>
          <a:prstGeom prst="rect">
            <a:avLst/>
          </a:prstGeom>
          <a:solidFill>
            <a:srgbClr val="16A5A8"/>
          </a:solidFill>
          <a:ln w="12700">
            <a:solidFill>
              <a:srgbClr val="16A5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B65B5FA9-9611-1375-8F52-FEFB376E8927}"/>
              </a:ext>
            </a:extLst>
          </p:cNvPr>
          <p:cNvSpPr/>
          <p:nvPr/>
        </p:nvSpPr>
        <p:spPr>
          <a:xfrm>
            <a:off x="8844674" y="4334256"/>
            <a:ext cx="2987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 Performer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1C5A6B5C-E7F4-4164-FF32-33D14A09758E}"/>
              </a:ext>
            </a:extLst>
          </p:cNvPr>
          <p:cNvSpPr/>
          <p:nvPr/>
        </p:nvSpPr>
        <p:spPr>
          <a:xfrm>
            <a:off x="8844674" y="4617720"/>
            <a:ext cx="29873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Information Technology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B5D6F-2C92-9CBE-749D-36F3D9DC2CD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39379" y="42255"/>
            <a:ext cx="856551" cy="787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BAE68A-6114-3640-79E0-BD4CBB8711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0517" b="34580"/>
          <a:stretch>
            <a:fillRect/>
          </a:stretch>
        </p:blipFill>
        <p:spPr>
          <a:xfrm>
            <a:off x="9100087" y="145886"/>
            <a:ext cx="1916625" cy="4795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3" y="-68732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-2434815" y="-1281117"/>
            <a:ext cx="4572000" cy="4572000"/>
          </a:xfrm>
          <a:prstGeom prst="ellipse">
            <a:avLst/>
          </a:prstGeom>
          <a:solidFill>
            <a:srgbClr val="0F7173">
              <a:alpha val="12000"/>
            </a:srgbClr>
          </a:solidFill>
          <a:ln w="12700">
            <a:solidFill>
              <a:srgbClr val="0F717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F4A21E">
              <a:alpha val="10000"/>
            </a:srgbClr>
          </a:solidFill>
          <a:ln w="12700">
            <a:solidFill>
              <a:srgbClr val="F4A2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18353" y="102468"/>
            <a:ext cx="54864" cy="320040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962150" y="102468"/>
            <a:ext cx="1645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4A21E"/>
                </a:solidFill>
              </a:rPr>
              <a:t>Demographics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116128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07</a:t>
            </a:r>
            <a:endParaRPr lang="en-US" sz="9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24C41C5-327F-458B-E7FC-94FADD62A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03" y="670931"/>
            <a:ext cx="8572635" cy="5685823"/>
          </a:xfrm>
          <a:prstGeom prst="rect">
            <a:avLst/>
          </a:prstGeom>
        </p:spPr>
      </p:pic>
      <p:sp>
        <p:nvSpPr>
          <p:cNvPr id="49" name="Shape 13">
            <a:extLst>
              <a:ext uri="{FF2B5EF4-FFF2-40B4-BE49-F238E27FC236}">
                <a16:creationId xmlns:a16="http://schemas.microsoft.com/office/drawing/2014/main" id="{3271FFA1-510F-8717-3967-2BF13446EA40}"/>
              </a:ext>
            </a:extLst>
          </p:cNvPr>
          <p:cNvSpPr/>
          <p:nvPr/>
        </p:nvSpPr>
        <p:spPr>
          <a:xfrm>
            <a:off x="8851966" y="1401859"/>
            <a:ext cx="3249535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71C01850-C731-4F52-9728-A6DC94FDFFD2}"/>
              </a:ext>
            </a:extLst>
          </p:cNvPr>
          <p:cNvSpPr/>
          <p:nvPr/>
        </p:nvSpPr>
        <p:spPr>
          <a:xfrm>
            <a:off x="8851966" y="1401859"/>
            <a:ext cx="46901" cy="74980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456CDFEB-287B-56AA-6175-4B8374A5443A}"/>
              </a:ext>
            </a:extLst>
          </p:cNvPr>
          <p:cNvSpPr/>
          <p:nvPr/>
        </p:nvSpPr>
        <p:spPr>
          <a:xfrm>
            <a:off x="9016558" y="1465867"/>
            <a:ext cx="3048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4A21E"/>
                </a:solidFill>
                <a:latin typeface="Calibri" panose="020F0502020204030204"/>
              </a:rPr>
              <a:t>2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A2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KPI Cards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1A83AACA-C858-6EA0-96F2-30B7EAC8FC62}"/>
              </a:ext>
            </a:extLst>
          </p:cNvPr>
          <p:cNvSpPr/>
          <p:nvPr/>
        </p:nvSpPr>
        <p:spPr>
          <a:xfrm>
            <a:off x="9016558" y="1749331"/>
            <a:ext cx="30485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Active Employee last 12 months (1,233) ·Showing an increase by 11.8% ·Largest numbers of payroll in a state is 722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09D4EED2-4A24-75E4-C449-2E34F00F07FF}"/>
              </a:ext>
            </a:extLst>
          </p:cNvPr>
          <p:cNvSpPr/>
          <p:nvPr/>
        </p:nvSpPr>
        <p:spPr>
          <a:xfrm>
            <a:off x="8851966" y="2279683"/>
            <a:ext cx="3249535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ABC5B4B8-960B-7021-2364-B6DB03EA97F1}"/>
              </a:ext>
            </a:extLst>
          </p:cNvPr>
          <p:cNvSpPr/>
          <p:nvPr/>
        </p:nvSpPr>
        <p:spPr>
          <a:xfrm>
            <a:off x="8851966" y="2279683"/>
            <a:ext cx="46901" cy="74980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5B327FB2-12FD-48A6-9631-FDADF7B8071E}"/>
              </a:ext>
            </a:extLst>
          </p:cNvPr>
          <p:cNvSpPr/>
          <p:nvPr/>
        </p:nvSpPr>
        <p:spPr>
          <a:xfrm>
            <a:off x="9016558" y="2343691"/>
            <a:ext cx="3048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717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State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CB694CEC-848D-F7FE-4C28-43FBF1E31C0D}"/>
              </a:ext>
            </a:extLst>
          </p:cNvPr>
          <p:cNvSpPr/>
          <p:nvPr/>
        </p:nvSpPr>
        <p:spPr>
          <a:xfrm>
            <a:off x="9016558" y="2627155"/>
            <a:ext cx="30485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California leads with 722 employees across 3 states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21">
            <a:extLst>
              <a:ext uri="{FF2B5EF4-FFF2-40B4-BE49-F238E27FC236}">
                <a16:creationId xmlns:a16="http://schemas.microsoft.com/office/drawing/2014/main" id="{4051672F-2765-3815-F8A1-B1647AD526FD}"/>
              </a:ext>
            </a:extLst>
          </p:cNvPr>
          <p:cNvSpPr/>
          <p:nvPr/>
        </p:nvSpPr>
        <p:spPr>
          <a:xfrm>
            <a:off x="8851966" y="3157507"/>
            <a:ext cx="3249535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6B46C1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22">
            <a:extLst>
              <a:ext uri="{FF2B5EF4-FFF2-40B4-BE49-F238E27FC236}">
                <a16:creationId xmlns:a16="http://schemas.microsoft.com/office/drawing/2014/main" id="{29785A37-591C-0494-2AA5-3E7A269ED8B9}"/>
              </a:ext>
            </a:extLst>
          </p:cNvPr>
          <p:cNvSpPr/>
          <p:nvPr/>
        </p:nvSpPr>
        <p:spPr>
          <a:xfrm>
            <a:off x="8851966" y="3157507"/>
            <a:ext cx="46901" cy="7498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9C45F653-0E7B-1A83-79C9-17D34D02B9CD}"/>
              </a:ext>
            </a:extLst>
          </p:cNvPr>
          <p:cNvSpPr/>
          <p:nvPr/>
        </p:nvSpPr>
        <p:spPr>
          <a:xfrm>
            <a:off x="9016558" y="3221515"/>
            <a:ext cx="3048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6B46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Gender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24">
            <a:extLst>
              <a:ext uri="{FF2B5EF4-FFF2-40B4-BE49-F238E27FC236}">
                <a16:creationId xmlns:a16="http://schemas.microsoft.com/office/drawing/2014/main" id="{1C325D57-330E-01D5-7D50-3CB48664BC86}"/>
              </a:ext>
            </a:extLst>
          </p:cNvPr>
          <p:cNvSpPr/>
          <p:nvPr/>
        </p:nvSpPr>
        <p:spPr>
          <a:xfrm>
            <a:off x="9016558" y="3504979"/>
            <a:ext cx="30485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support that the company apply gender equality for each of its departments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25">
            <a:extLst>
              <a:ext uri="{FF2B5EF4-FFF2-40B4-BE49-F238E27FC236}">
                <a16:creationId xmlns:a16="http://schemas.microsoft.com/office/drawing/2014/main" id="{51E6DE9B-2BC4-A35B-C467-5F42037CE99B}"/>
              </a:ext>
            </a:extLst>
          </p:cNvPr>
          <p:cNvSpPr/>
          <p:nvPr/>
        </p:nvSpPr>
        <p:spPr>
          <a:xfrm>
            <a:off x="8851966" y="4035331"/>
            <a:ext cx="3249535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6A5A8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26">
            <a:extLst>
              <a:ext uri="{FF2B5EF4-FFF2-40B4-BE49-F238E27FC236}">
                <a16:creationId xmlns:a16="http://schemas.microsoft.com/office/drawing/2014/main" id="{CF1C1C69-A853-F756-23C6-147D22D47029}"/>
              </a:ext>
            </a:extLst>
          </p:cNvPr>
          <p:cNvSpPr/>
          <p:nvPr/>
        </p:nvSpPr>
        <p:spPr>
          <a:xfrm>
            <a:off x="8851966" y="4035331"/>
            <a:ext cx="46901" cy="749808"/>
          </a:xfrm>
          <a:prstGeom prst="rect">
            <a:avLst/>
          </a:prstGeom>
          <a:solidFill>
            <a:srgbClr val="16A5A8"/>
          </a:solidFill>
          <a:ln w="12700">
            <a:solidFill>
              <a:srgbClr val="16A5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27">
            <a:extLst>
              <a:ext uri="{FF2B5EF4-FFF2-40B4-BE49-F238E27FC236}">
                <a16:creationId xmlns:a16="http://schemas.microsoft.com/office/drawing/2014/main" id="{D6438759-6270-56DF-D66C-BCA6EC9310FA}"/>
              </a:ext>
            </a:extLst>
          </p:cNvPr>
          <p:cNvSpPr/>
          <p:nvPr/>
        </p:nvSpPr>
        <p:spPr>
          <a:xfrm>
            <a:off x="9016558" y="4099339"/>
            <a:ext cx="3048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Ethnicity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28">
            <a:extLst>
              <a:ext uri="{FF2B5EF4-FFF2-40B4-BE49-F238E27FC236}">
                <a16:creationId xmlns:a16="http://schemas.microsoft.com/office/drawing/2014/main" id="{F7CA3C8C-FCA1-1707-8578-092A56CC5B7E}"/>
              </a:ext>
            </a:extLst>
          </p:cNvPr>
          <p:cNvSpPr/>
          <p:nvPr/>
        </p:nvSpPr>
        <p:spPr>
          <a:xfrm>
            <a:off x="9016558" y="4382803"/>
            <a:ext cx="30485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White Ethnicity has been taken the lead, yet there is a clear diversification within the company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29">
            <a:extLst>
              <a:ext uri="{FF2B5EF4-FFF2-40B4-BE49-F238E27FC236}">
                <a16:creationId xmlns:a16="http://schemas.microsoft.com/office/drawing/2014/main" id="{3E248149-8645-EA7D-A8A6-0992F98E2CB5}"/>
              </a:ext>
            </a:extLst>
          </p:cNvPr>
          <p:cNvSpPr/>
          <p:nvPr/>
        </p:nvSpPr>
        <p:spPr>
          <a:xfrm>
            <a:off x="8851966" y="4913155"/>
            <a:ext cx="3249535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38A169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30">
            <a:extLst>
              <a:ext uri="{FF2B5EF4-FFF2-40B4-BE49-F238E27FC236}">
                <a16:creationId xmlns:a16="http://schemas.microsoft.com/office/drawing/2014/main" id="{60CF110C-2ED4-C854-4000-E98B3A3625EB}"/>
              </a:ext>
            </a:extLst>
          </p:cNvPr>
          <p:cNvSpPr/>
          <p:nvPr/>
        </p:nvSpPr>
        <p:spPr>
          <a:xfrm>
            <a:off x="8851966" y="4913155"/>
            <a:ext cx="46901" cy="74980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505C6DAF-E496-EA36-5709-CCFD21E1F754}"/>
              </a:ext>
            </a:extLst>
          </p:cNvPr>
          <p:cNvSpPr/>
          <p:nvPr/>
        </p:nvSpPr>
        <p:spPr>
          <a:xfrm>
            <a:off x="9016558" y="4977163"/>
            <a:ext cx="3048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8A1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Filter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32">
            <a:extLst>
              <a:ext uri="{FF2B5EF4-FFF2-40B4-BE49-F238E27FC236}">
                <a16:creationId xmlns:a16="http://schemas.microsoft.com/office/drawing/2014/main" id="{2A7ECB7F-B2F1-1699-002C-BC5BEE75EBF8}"/>
              </a:ext>
            </a:extLst>
          </p:cNvPr>
          <p:cNvSpPr/>
          <p:nvPr/>
        </p:nvSpPr>
        <p:spPr>
          <a:xfrm>
            <a:off x="9016558" y="5260627"/>
            <a:ext cx="30485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Sales Executive &amp; Software Engineer lead headcount We have two filters for year and department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0D584EC9-23D8-8993-5BD9-4BCBF72563D8}"/>
              </a:ext>
            </a:extLst>
          </p:cNvPr>
          <p:cNvSpPr/>
          <p:nvPr/>
        </p:nvSpPr>
        <p:spPr>
          <a:xfrm>
            <a:off x="70388" y="91997"/>
            <a:ext cx="1501517" cy="320040"/>
          </a:xfrm>
          <a:prstGeom prst="rect">
            <a:avLst/>
          </a:prstGeom>
          <a:solidFill>
            <a:srgbClr val="6B46C1">
              <a:alpha val="80000"/>
            </a:srgbClr>
          </a:solidFill>
          <a:ln w="12700">
            <a:solidFill>
              <a:srgbClr val="6B4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3" name="Text 37">
            <a:extLst>
              <a:ext uri="{FF2B5EF4-FFF2-40B4-BE49-F238E27FC236}">
                <a16:creationId xmlns:a16="http://schemas.microsoft.com/office/drawing/2014/main" id="{FC1C2CC9-FFC2-7007-08E3-22F26F6E37A1}"/>
              </a:ext>
            </a:extLst>
          </p:cNvPr>
          <p:cNvSpPr/>
          <p:nvPr/>
        </p:nvSpPr>
        <p:spPr>
          <a:xfrm>
            <a:off x="12966766" y="6089904"/>
            <a:ext cx="3350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-245452" y="1260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PAGE 5 </a:t>
            </a:r>
            <a:endParaRPr lang="en-US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6E393B-FEB3-B7B7-96BA-7F03048F39D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39379" y="42255"/>
            <a:ext cx="856551" cy="787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85B654-BE73-421A-48DC-209D22B52C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0517" b="34580"/>
          <a:stretch>
            <a:fillRect/>
          </a:stretch>
        </p:blipFill>
        <p:spPr>
          <a:xfrm>
            <a:off x="9100087" y="145886"/>
            <a:ext cx="1916625" cy="4795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E01F8-2C8A-E241-96B0-26EC22CB8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FDA70C-904D-629F-AF04-A123DD97CD10}"/>
              </a:ext>
            </a:extLst>
          </p:cNvPr>
          <p:cNvSpPr/>
          <p:nvPr/>
        </p:nvSpPr>
        <p:spPr>
          <a:xfrm>
            <a:off x="11883" y="-68732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9FA2100-CFAE-24A6-A2F9-A06994C483E3}"/>
              </a:ext>
            </a:extLst>
          </p:cNvPr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0AF46EE-6D33-F886-7FBC-135A54E5AF2A}"/>
              </a:ext>
            </a:extLst>
          </p:cNvPr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41D3706-441C-BE75-B27F-4CA4601CEF29}"/>
              </a:ext>
            </a:extLst>
          </p:cNvPr>
          <p:cNvSpPr/>
          <p:nvPr/>
        </p:nvSpPr>
        <p:spPr>
          <a:xfrm>
            <a:off x="-2434815" y="-1281117"/>
            <a:ext cx="4572000" cy="4572000"/>
          </a:xfrm>
          <a:prstGeom prst="ellipse">
            <a:avLst/>
          </a:prstGeom>
          <a:solidFill>
            <a:srgbClr val="0F7173">
              <a:alpha val="12000"/>
            </a:srgbClr>
          </a:solidFill>
          <a:ln w="12700">
            <a:solidFill>
              <a:srgbClr val="0F717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1AA2ECC-1A56-7031-E976-E212A36B2715}"/>
              </a:ext>
            </a:extLst>
          </p:cNvPr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F4A21E">
              <a:alpha val="10000"/>
            </a:srgbClr>
          </a:solidFill>
          <a:ln w="12700">
            <a:solidFill>
              <a:srgbClr val="F4A2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480D6FB-098B-8955-D2AB-5F270E20EFA7}"/>
              </a:ext>
            </a:extLst>
          </p:cNvPr>
          <p:cNvSpPr/>
          <p:nvPr/>
        </p:nvSpPr>
        <p:spPr>
          <a:xfrm>
            <a:off x="1818353" y="102468"/>
            <a:ext cx="54864" cy="320040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4AC21CA-FCB7-B744-012F-023B7D2EAFEE}"/>
              </a:ext>
            </a:extLst>
          </p:cNvPr>
          <p:cNvSpPr/>
          <p:nvPr/>
        </p:nvSpPr>
        <p:spPr>
          <a:xfrm>
            <a:off x="1962150" y="102468"/>
            <a:ext cx="21208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F4A21E"/>
                </a:solidFill>
              </a:rPr>
              <a:t>Compensation Analysis</a:t>
            </a:r>
            <a:endParaRPr lang="en-US" sz="900" dirty="0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44436323-637B-02B7-B422-9B8B2032C257}"/>
              </a:ext>
            </a:extLst>
          </p:cNvPr>
          <p:cNvSpPr/>
          <p:nvPr/>
        </p:nvSpPr>
        <p:spPr>
          <a:xfrm>
            <a:off x="116128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07</a:t>
            </a:r>
            <a:endParaRPr lang="en-US" sz="900" dirty="0"/>
          </a:p>
        </p:txBody>
      </p:sp>
      <p:sp>
        <p:nvSpPr>
          <p:cNvPr id="49" name="Shape 13">
            <a:extLst>
              <a:ext uri="{FF2B5EF4-FFF2-40B4-BE49-F238E27FC236}">
                <a16:creationId xmlns:a16="http://schemas.microsoft.com/office/drawing/2014/main" id="{BF643B2D-1876-C721-DAD0-DB8D0FEFD5A5}"/>
              </a:ext>
            </a:extLst>
          </p:cNvPr>
          <p:cNvSpPr/>
          <p:nvPr/>
        </p:nvSpPr>
        <p:spPr>
          <a:xfrm>
            <a:off x="8573244" y="1401859"/>
            <a:ext cx="3249535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A528EE83-94D6-94E1-FC5F-53FCAE9A1D83}"/>
              </a:ext>
            </a:extLst>
          </p:cNvPr>
          <p:cNvSpPr/>
          <p:nvPr/>
        </p:nvSpPr>
        <p:spPr>
          <a:xfrm>
            <a:off x="8573244" y="1401859"/>
            <a:ext cx="46901" cy="749808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B9F40630-6AE4-9A4C-9A0F-9B56027ACA67}"/>
              </a:ext>
            </a:extLst>
          </p:cNvPr>
          <p:cNvSpPr/>
          <p:nvPr/>
        </p:nvSpPr>
        <p:spPr>
          <a:xfrm>
            <a:off x="8737836" y="1465867"/>
            <a:ext cx="3048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4A21E"/>
                </a:solidFill>
                <a:latin typeface="Calibri" panose="020F0502020204030204"/>
              </a:rPr>
              <a:t>1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A2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KPI Card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DC3A9E44-4A46-9685-7E72-8581D2DE97A5}"/>
              </a:ext>
            </a:extLst>
          </p:cNvPr>
          <p:cNvSpPr/>
          <p:nvPr/>
        </p:nvSpPr>
        <p:spPr>
          <a:xfrm>
            <a:off x="8737836" y="1749331"/>
            <a:ext cx="30485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Average Annual Salary ($119K) ·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623EA351-C319-32C2-2DB0-10B4013EBF99}"/>
              </a:ext>
            </a:extLst>
          </p:cNvPr>
          <p:cNvSpPr/>
          <p:nvPr/>
        </p:nvSpPr>
        <p:spPr>
          <a:xfrm>
            <a:off x="8573244" y="2279683"/>
            <a:ext cx="3249535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57539ED8-EBBD-6AFD-8EB3-51A60E428614}"/>
              </a:ext>
            </a:extLst>
          </p:cNvPr>
          <p:cNvSpPr/>
          <p:nvPr/>
        </p:nvSpPr>
        <p:spPr>
          <a:xfrm>
            <a:off x="8573244" y="2279683"/>
            <a:ext cx="46901" cy="74980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0BC71434-A4AB-ACB7-FF9E-C1604558C0CA}"/>
              </a:ext>
            </a:extLst>
          </p:cNvPr>
          <p:cNvSpPr/>
          <p:nvPr/>
        </p:nvSpPr>
        <p:spPr>
          <a:xfrm>
            <a:off x="8737836" y="2343691"/>
            <a:ext cx="3048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717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Department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DCCCCA69-4D83-AC44-2B95-A0FF83379CE7}"/>
              </a:ext>
            </a:extLst>
          </p:cNvPr>
          <p:cNvSpPr/>
          <p:nvPr/>
        </p:nvSpPr>
        <p:spPr>
          <a:xfrm>
            <a:off x="8737836" y="2627155"/>
            <a:ext cx="30485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HR Department has the highest Average salary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21">
            <a:extLst>
              <a:ext uri="{FF2B5EF4-FFF2-40B4-BE49-F238E27FC236}">
                <a16:creationId xmlns:a16="http://schemas.microsoft.com/office/drawing/2014/main" id="{7B914086-00C7-37BA-3D4C-999DF1465FE4}"/>
              </a:ext>
            </a:extLst>
          </p:cNvPr>
          <p:cNvSpPr/>
          <p:nvPr/>
        </p:nvSpPr>
        <p:spPr>
          <a:xfrm>
            <a:off x="8573244" y="3157507"/>
            <a:ext cx="3249535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6B46C1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22">
            <a:extLst>
              <a:ext uri="{FF2B5EF4-FFF2-40B4-BE49-F238E27FC236}">
                <a16:creationId xmlns:a16="http://schemas.microsoft.com/office/drawing/2014/main" id="{2CA314D2-F36B-157A-478A-6CF5B849DF08}"/>
              </a:ext>
            </a:extLst>
          </p:cNvPr>
          <p:cNvSpPr/>
          <p:nvPr/>
        </p:nvSpPr>
        <p:spPr>
          <a:xfrm>
            <a:off x="8573244" y="3157507"/>
            <a:ext cx="46901" cy="7498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C9E6A0D2-62E1-C46A-4F5C-CB55556F62DF}"/>
              </a:ext>
            </a:extLst>
          </p:cNvPr>
          <p:cNvSpPr/>
          <p:nvPr/>
        </p:nvSpPr>
        <p:spPr>
          <a:xfrm>
            <a:off x="8737836" y="3221515"/>
            <a:ext cx="3048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6B46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Title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24">
            <a:extLst>
              <a:ext uri="{FF2B5EF4-FFF2-40B4-BE49-F238E27FC236}">
                <a16:creationId xmlns:a16="http://schemas.microsoft.com/office/drawing/2014/main" id="{F3BD1815-80EE-53E4-D1ED-E82B0F27E906}"/>
              </a:ext>
            </a:extLst>
          </p:cNvPr>
          <p:cNvSpPr/>
          <p:nvPr/>
        </p:nvSpPr>
        <p:spPr>
          <a:xfrm>
            <a:off x="8737836" y="3504979"/>
            <a:ext cx="30485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50" dirty="0">
                <a:solidFill>
                  <a:srgbClr val="EEF2F7"/>
                </a:solidFill>
                <a:latin typeface="Calibri" panose="020F0502020204030204"/>
              </a:rPr>
              <a:t>Mangers have the highest paid salaries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25">
            <a:extLst>
              <a:ext uri="{FF2B5EF4-FFF2-40B4-BE49-F238E27FC236}">
                <a16:creationId xmlns:a16="http://schemas.microsoft.com/office/drawing/2014/main" id="{8FE1F4CC-6EA4-4F17-86D5-4EF66845FEF8}"/>
              </a:ext>
            </a:extLst>
          </p:cNvPr>
          <p:cNvSpPr/>
          <p:nvPr/>
        </p:nvSpPr>
        <p:spPr>
          <a:xfrm>
            <a:off x="8573244" y="4035331"/>
            <a:ext cx="3249535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6A5A8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2" name="Shape 26">
            <a:extLst>
              <a:ext uri="{FF2B5EF4-FFF2-40B4-BE49-F238E27FC236}">
                <a16:creationId xmlns:a16="http://schemas.microsoft.com/office/drawing/2014/main" id="{1AA83B08-59A2-EC20-CA07-90C6A066D06F}"/>
              </a:ext>
            </a:extLst>
          </p:cNvPr>
          <p:cNvSpPr/>
          <p:nvPr/>
        </p:nvSpPr>
        <p:spPr>
          <a:xfrm>
            <a:off x="8573244" y="4035331"/>
            <a:ext cx="46901" cy="749808"/>
          </a:xfrm>
          <a:prstGeom prst="rect">
            <a:avLst/>
          </a:prstGeom>
          <a:solidFill>
            <a:srgbClr val="16A5A8"/>
          </a:solidFill>
          <a:ln w="12700">
            <a:solidFill>
              <a:srgbClr val="16A5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27">
            <a:extLst>
              <a:ext uri="{FF2B5EF4-FFF2-40B4-BE49-F238E27FC236}">
                <a16:creationId xmlns:a16="http://schemas.microsoft.com/office/drawing/2014/main" id="{5624C600-FB58-28B4-8562-2158137165FC}"/>
              </a:ext>
            </a:extLst>
          </p:cNvPr>
          <p:cNvSpPr/>
          <p:nvPr/>
        </p:nvSpPr>
        <p:spPr>
          <a:xfrm>
            <a:off x="8737836" y="4099339"/>
            <a:ext cx="3048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6A5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</a:t>
            </a:r>
            <a:r>
              <a:rPr lang="en-US" sz="1200" b="1" dirty="0">
                <a:solidFill>
                  <a:srgbClr val="16A5A8"/>
                </a:solidFill>
                <a:latin typeface="Calibri" panose="020F0502020204030204"/>
              </a:rPr>
              <a:t> Count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28">
            <a:extLst>
              <a:ext uri="{FF2B5EF4-FFF2-40B4-BE49-F238E27FC236}">
                <a16:creationId xmlns:a16="http://schemas.microsoft.com/office/drawing/2014/main" id="{1229CFC0-8B71-DA9E-749C-8AD08456CF22}"/>
              </a:ext>
            </a:extLst>
          </p:cNvPr>
          <p:cNvSpPr/>
          <p:nvPr/>
        </p:nvSpPr>
        <p:spPr>
          <a:xfrm>
            <a:off x="8737836" y="4382803"/>
            <a:ext cx="30485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50-100K accounted for 32.36% of employees</a:t>
            </a:r>
          </a:p>
        </p:txBody>
      </p:sp>
      <p:sp>
        <p:nvSpPr>
          <p:cNvPr id="65" name="Shape 29">
            <a:extLst>
              <a:ext uri="{FF2B5EF4-FFF2-40B4-BE49-F238E27FC236}">
                <a16:creationId xmlns:a16="http://schemas.microsoft.com/office/drawing/2014/main" id="{F57630FE-3046-7A43-B275-84D4A61872EB}"/>
              </a:ext>
            </a:extLst>
          </p:cNvPr>
          <p:cNvSpPr/>
          <p:nvPr/>
        </p:nvSpPr>
        <p:spPr>
          <a:xfrm>
            <a:off x="8573244" y="4913155"/>
            <a:ext cx="3249535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38A169">
                <a:alpha val="6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30">
            <a:extLst>
              <a:ext uri="{FF2B5EF4-FFF2-40B4-BE49-F238E27FC236}">
                <a16:creationId xmlns:a16="http://schemas.microsoft.com/office/drawing/2014/main" id="{601FC709-44E4-3ECA-4BDD-CB6E477B681A}"/>
              </a:ext>
            </a:extLst>
          </p:cNvPr>
          <p:cNvSpPr/>
          <p:nvPr/>
        </p:nvSpPr>
        <p:spPr>
          <a:xfrm>
            <a:off x="8573244" y="4913155"/>
            <a:ext cx="46901" cy="74980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67CF8837-5A95-0976-C10E-27F04D921885}"/>
              </a:ext>
            </a:extLst>
          </p:cNvPr>
          <p:cNvSpPr/>
          <p:nvPr/>
        </p:nvSpPr>
        <p:spPr>
          <a:xfrm>
            <a:off x="8737836" y="4977163"/>
            <a:ext cx="3048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8A1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Filter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32">
            <a:extLst>
              <a:ext uri="{FF2B5EF4-FFF2-40B4-BE49-F238E27FC236}">
                <a16:creationId xmlns:a16="http://schemas.microsoft.com/office/drawing/2014/main" id="{3072AA0F-7536-6283-C3E1-93A95F6A7CF2}"/>
              </a:ext>
            </a:extLst>
          </p:cNvPr>
          <p:cNvSpPr/>
          <p:nvPr/>
        </p:nvSpPr>
        <p:spPr>
          <a:xfrm>
            <a:off x="8737836" y="5260627"/>
            <a:ext cx="30485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Sales Executive &amp; Software Engineer lead headcount We have two filters for year and department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4811D83A-9B3B-25DF-F35B-83527BC97E02}"/>
              </a:ext>
            </a:extLst>
          </p:cNvPr>
          <p:cNvSpPr/>
          <p:nvPr/>
        </p:nvSpPr>
        <p:spPr>
          <a:xfrm>
            <a:off x="70388" y="91997"/>
            <a:ext cx="1501517" cy="320040"/>
          </a:xfrm>
          <a:prstGeom prst="rect">
            <a:avLst/>
          </a:prstGeom>
          <a:solidFill>
            <a:srgbClr val="6B46C1">
              <a:alpha val="80000"/>
            </a:srgbClr>
          </a:solidFill>
          <a:ln w="12700">
            <a:solidFill>
              <a:srgbClr val="6B4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3" name="Text 37">
            <a:extLst>
              <a:ext uri="{FF2B5EF4-FFF2-40B4-BE49-F238E27FC236}">
                <a16:creationId xmlns:a16="http://schemas.microsoft.com/office/drawing/2014/main" id="{02F9D2CC-99F7-ADA3-6314-603F489D5C19}"/>
              </a:ext>
            </a:extLst>
          </p:cNvPr>
          <p:cNvSpPr/>
          <p:nvPr/>
        </p:nvSpPr>
        <p:spPr>
          <a:xfrm>
            <a:off x="12966766" y="6089904"/>
            <a:ext cx="3350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7C4C0D0-2DE5-5970-18B3-7E1EBEF4887F}"/>
              </a:ext>
            </a:extLst>
          </p:cNvPr>
          <p:cNvSpPr/>
          <p:nvPr/>
        </p:nvSpPr>
        <p:spPr>
          <a:xfrm>
            <a:off x="-245452" y="1260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PAGE 6 </a:t>
            </a:r>
            <a:endParaRPr lang="en-US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D9DD55-1484-C60D-D7F4-68B19480D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05" y="643525"/>
            <a:ext cx="7877130" cy="59087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528BE5-8423-F89A-7239-434F884FBCD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39379" y="42255"/>
            <a:ext cx="856551" cy="787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06108C-74C9-2CA1-790C-5A1589ED47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0517" b="34580"/>
          <a:stretch>
            <a:fillRect/>
          </a:stretch>
        </p:blipFill>
        <p:spPr>
          <a:xfrm>
            <a:off x="9100087" y="145886"/>
            <a:ext cx="1916625" cy="47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46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7173">
              <a:alpha val="12000"/>
            </a:srgbClr>
          </a:solidFill>
          <a:ln w="12700">
            <a:solidFill>
              <a:srgbClr val="0F717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F4A21E">
              <a:alpha val="10000"/>
            </a:srgbClr>
          </a:solidFill>
          <a:ln w="12700">
            <a:solidFill>
              <a:srgbClr val="F4A2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772400" y="-457200"/>
            <a:ext cx="5486400" cy="5486400"/>
          </a:xfrm>
          <a:prstGeom prst="ellipse">
            <a:avLst/>
          </a:prstGeom>
          <a:solidFill>
            <a:srgbClr val="1B2A4A">
              <a:alpha val="70000"/>
            </a:srgbClr>
          </a:solidFill>
          <a:ln w="12700">
            <a:solidFill>
              <a:srgbClr val="0F717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686800" y="1371600"/>
            <a:ext cx="3657600" cy="3657600"/>
          </a:xfrm>
          <a:prstGeom prst="ellipse">
            <a:avLst/>
          </a:prstGeom>
          <a:solidFill>
            <a:srgbClr val="243656">
              <a:alpha val="60000"/>
            </a:srgbClr>
          </a:solidFill>
          <a:ln w="12700">
            <a:solidFill>
              <a:srgbClr val="F4A21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22960" y="9144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18" name="Shape 16"/>
          <p:cNvSpPr/>
          <p:nvPr/>
        </p:nvSpPr>
        <p:spPr>
          <a:xfrm>
            <a:off x="822960" y="2331720"/>
            <a:ext cx="5943600" cy="73152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22960" y="2514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A5A8"/>
                </a:solidFill>
              </a:rPr>
              <a:t>HR Data Analysis Project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60" y="312724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EEF2F7"/>
                </a:solidFill>
              </a:rPr>
              <a:t>A data-driven approach to understanding and improving</a:t>
            </a: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EEF2F7"/>
                </a:solidFill>
              </a:rPr>
              <a:t>workforce health, retention, and equity.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4023360"/>
            <a:ext cx="25146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F4A21E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822960" y="4023360"/>
            <a:ext cx="2514600" cy="54864"/>
          </a:xfrm>
          <a:prstGeom prst="rect">
            <a:avLst/>
          </a:prstGeom>
          <a:solidFill>
            <a:srgbClr val="F4A21E"/>
          </a:solidFill>
          <a:ln w="12700">
            <a:solidFill>
              <a:srgbClr val="F4A2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960120" y="40965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4A2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1,470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60120" y="45537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EF2F7"/>
                </a:solidFill>
              </a:rPr>
              <a:t>Employees Analysed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20440" y="4023360"/>
            <a:ext cx="25146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0F7173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520440" y="4023360"/>
            <a:ext cx="2514600" cy="5486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657600" y="40965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71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657600" y="45537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EF2F7"/>
                </a:solidFill>
              </a:rPr>
              <a:t>Dashboard Pages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4023360"/>
            <a:ext cx="25146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E53E3E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217920" y="4023360"/>
            <a:ext cx="251460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355080" y="40965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16.1%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355080" y="45537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EF2F7"/>
                </a:solidFill>
              </a:rPr>
              <a:t>Attrition Rate Found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915400" y="4023360"/>
            <a:ext cx="25146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38A169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8915400" y="4023360"/>
            <a:ext cx="2514600" cy="54864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9052560" y="40965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8A1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9052560" y="45537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EF2F7"/>
                </a:solidFill>
              </a:rPr>
              <a:t>Average Attrition Age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" y="5303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A5A8"/>
                </a:solidFill>
              </a:rPr>
              <a:t>Team: Wael · Ahmed · Antonios · Ashraf · Gerges · Omar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" y="5669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</a:rPr>
              <a:t>github.com/WaelMAbbas/Hr-Data-Analysis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6128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DA401D2-82C5-4D11-3412-169162F9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39379" y="42255"/>
            <a:ext cx="856551" cy="7874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3605F96-0B17-9CD7-8A3C-696A03AB15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517" b="34580"/>
          <a:stretch>
            <a:fillRect/>
          </a:stretch>
        </p:blipFill>
        <p:spPr>
          <a:xfrm>
            <a:off x="9100087" y="145886"/>
            <a:ext cx="1916625" cy="4795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1327</Words>
  <Application>Microsoft Office PowerPoint</Application>
  <PresentationFormat>Widescreen</PresentationFormat>
  <Paragraphs>358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Data Analysis</dc:title>
  <dc:subject>PptxGenJS Presentation</dc:subject>
  <dc:creator>PptxGenJS</dc:creator>
  <cp:lastModifiedBy>منى عزب</cp:lastModifiedBy>
  <cp:revision>12</cp:revision>
  <dcterms:created xsi:type="dcterms:W3CDTF">2026-05-21T23:09:46Z</dcterms:created>
  <dcterms:modified xsi:type="dcterms:W3CDTF">2026-05-23T06:51:19Z</dcterms:modified>
</cp:coreProperties>
</file>